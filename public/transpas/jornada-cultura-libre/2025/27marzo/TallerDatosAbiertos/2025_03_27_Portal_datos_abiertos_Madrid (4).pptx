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7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  <p:sldMasterId id="2147483711" r:id="rId6"/>
    <p:sldMasterId id="2147483723" r:id="rId7"/>
    <p:sldMasterId id="2147483735" r:id="rId8"/>
    <p:sldMasterId id="2147483747" r:id="rId9"/>
    <p:sldMasterId id="2147483760" r:id="rId10"/>
    <p:sldMasterId id="2147483775" r:id="rId11"/>
    <p:sldMasterId id="2147483791" r:id="rId12"/>
    <p:sldMasterId id="2147483799" r:id="rId13"/>
  </p:sldMasterIdLst>
  <p:notesMasterIdLst>
    <p:notesMasterId r:id="rId35"/>
  </p:notesMasterIdLst>
  <p:sldIdLst>
    <p:sldId id="1435" r:id="rId14"/>
    <p:sldId id="1694" r:id="rId15"/>
    <p:sldId id="1894" r:id="rId16"/>
    <p:sldId id="1895" r:id="rId17"/>
    <p:sldId id="319" r:id="rId18"/>
    <p:sldId id="1692" r:id="rId19"/>
    <p:sldId id="1629" r:id="rId20"/>
    <p:sldId id="1636" r:id="rId21"/>
    <p:sldId id="1893" r:id="rId22"/>
    <p:sldId id="1695" r:id="rId23"/>
    <p:sldId id="486" r:id="rId24"/>
    <p:sldId id="2094" r:id="rId25"/>
    <p:sldId id="1696" r:id="rId26"/>
    <p:sldId id="1699" r:id="rId27"/>
    <p:sldId id="2100" r:id="rId28"/>
    <p:sldId id="2101" r:id="rId29"/>
    <p:sldId id="2099" r:id="rId30"/>
    <p:sldId id="366" r:id="rId31"/>
    <p:sldId id="2096" r:id="rId32"/>
    <p:sldId id="1693" r:id="rId33"/>
    <p:sldId id="2097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s-ES" sz="2000" b="1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Evolución</a:t>
            </a:r>
            <a:r>
              <a:rPr lang="es-ES" sz="2000" b="1" baseline="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acumulada de los conjuntos </a:t>
            </a:r>
          </a:p>
          <a:p>
            <a:pPr>
              <a:defRPr sz="2000" b="1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s-ES" sz="2000" b="1" baseline="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 datos publicados</a:t>
            </a:r>
            <a:endParaRPr lang="es-ES" sz="2000" b="1" dirty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Evolución!$B$3</c:f>
              <c:strCache>
                <c:ptCount val="1"/>
                <c:pt idx="0">
                  <c:v>Dataset x año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Evolución!$A$4:$A$15</c:f>
              <c:numCache>
                <c:formatCode>General</c:formatCod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numCache>
            </c:numRef>
          </c:cat>
          <c:val>
            <c:numRef>
              <c:f>Evolución!$B$4:$B$15</c:f>
              <c:numCache>
                <c:formatCode>General</c:formatCode>
                <c:ptCount val="12"/>
                <c:pt idx="0">
                  <c:v>127</c:v>
                </c:pt>
                <c:pt idx="1">
                  <c:v>62</c:v>
                </c:pt>
                <c:pt idx="2">
                  <c:v>28</c:v>
                </c:pt>
                <c:pt idx="3">
                  <c:v>66</c:v>
                </c:pt>
                <c:pt idx="4">
                  <c:v>61</c:v>
                </c:pt>
                <c:pt idx="5">
                  <c:v>66</c:v>
                </c:pt>
                <c:pt idx="6">
                  <c:v>43</c:v>
                </c:pt>
                <c:pt idx="7">
                  <c:v>38</c:v>
                </c:pt>
                <c:pt idx="8">
                  <c:v>47</c:v>
                </c:pt>
                <c:pt idx="9">
                  <c:v>45</c:v>
                </c:pt>
                <c:pt idx="10">
                  <c:v>47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D0-4BC0-9728-6DD5D26A0D60}"/>
            </c:ext>
          </c:extLst>
        </c:ser>
        <c:ser>
          <c:idx val="1"/>
          <c:order val="1"/>
          <c:tx>
            <c:strRef>
              <c:f>Evolución!$C$3</c:f>
              <c:strCache>
                <c:ptCount val="1"/>
                <c:pt idx="0">
                  <c:v>Acumulado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D0-4BC0-9728-6DD5D26A0D60}"/>
                </c:ext>
              </c:extLst>
            </c:dLbl>
            <c:dLbl>
              <c:idx val="1"/>
              <c:layout>
                <c:manualLayout>
                  <c:x val="-3.2770092001388251E-2"/>
                  <c:y val="-4.38756981893213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9D0-4BC0-9728-6DD5D26A0D60}"/>
                </c:ext>
              </c:extLst>
            </c:dLbl>
            <c:dLbl>
              <c:idx val="2"/>
              <c:layout>
                <c:manualLayout>
                  <c:x val="-3.2770092001388217E-2"/>
                  <c:y val="-5.4844622736651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D0-4BC0-9728-6DD5D26A0D60}"/>
                </c:ext>
              </c:extLst>
            </c:dLbl>
            <c:dLbl>
              <c:idx val="3"/>
              <c:layout>
                <c:manualLayout>
                  <c:x val="-3.0721961251301451E-2"/>
                  <c:y val="-6.21572391015386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9D0-4BC0-9728-6DD5D26A0D60}"/>
                </c:ext>
              </c:extLst>
            </c:dLbl>
            <c:dLbl>
              <c:idx val="4"/>
              <c:layout>
                <c:manualLayout>
                  <c:x val="-4.3010745751822108E-2"/>
                  <c:y val="-3.6563081824434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9D0-4BC0-9728-6DD5D26A0D60}"/>
                </c:ext>
              </c:extLst>
            </c:dLbl>
            <c:dLbl>
              <c:idx val="5"/>
              <c:layout>
                <c:manualLayout>
                  <c:x val="-3.2770092001388286E-2"/>
                  <c:y val="-4.0219390006877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9D0-4BC0-9728-6DD5D26A0D60}"/>
                </c:ext>
              </c:extLst>
            </c:dLbl>
            <c:dLbl>
              <c:idx val="6"/>
              <c:layout>
                <c:manualLayout>
                  <c:x val="-1.4336915250607343E-2"/>
                  <c:y val="-5.8500930919095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9D0-4BC0-9728-6DD5D26A0D60}"/>
                </c:ext>
              </c:extLst>
            </c:dLbl>
            <c:dLbl>
              <c:idx val="7"/>
              <c:layout>
                <c:manualLayout>
                  <c:x val="-2.0481307500867633E-2"/>
                  <c:y val="-4.7532006371764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9D0-4BC0-9728-6DD5D26A0D60}"/>
                </c:ext>
              </c:extLst>
            </c:dLbl>
            <c:dLbl>
              <c:idx val="8"/>
              <c:layout>
                <c:manualLayout>
                  <c:x val="-1.228878450052058E-2"/>
                  <c:y val="-4.3875698189321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9D0-4BC0-9728-6DD5D26A0D60}"/>
                </c:ext>
              </c:extLst>
            </c:dLbl>
            <c:dLbl>
              <c:idx val="9"/>
              <c:layout>
                <c:manualLayout>
                  <c:x val="-2.8673830501214685E-2"/>
                  <c:y val="-5.4844622736651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9D0-4BC0-9728-6DD5D26A0D60}"/>
                </c:ext>
              </c:extLst>
            </c:dLbl>
            <c:dLbl>
              <c:idx val="10"/>
              <c:layout>
                <c:manualLayout>
                  <c:x val="-1.379446036815862E-2"/>
                  <c:y val="-8.1001496237373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9D0-4BC0-9728-6DD5D26A0D60}"/>
                </c:ext>
              </c:extLst>
            </c:dLbl>
            <c:dLbl>
              <c:idx val="11"/>
              <c:layout>
                <c:manualLayout>
                  <c:x val="-3.5316779929095645E-3"/>
                  <c:y val="-9.217877094972068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F9D0-4BC0-9728-6DD5D26A0D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Evolución!$A$4:$A$15</c:f>
              <c:numCache>
                <c:formatCode>General</c:formatCode>
                <c:ptCount val="12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</c:numCache>
            </c:numRef>
          </c:cat>
          <c:val>
            <c:numRef>
              <c:f>Evolución!$C$4:$C$15</c:f>
              <c:numCache>
                <c:formatCode>General</c:formatCode>
                <c:ptCount val="12"/>
                <c:pt idx="0">
                  <c:v>127</c:v>
                </c:pt>
                <c:pt idx="1">
                  <c:v>189</c:v>
                </c:pt>
                <c:pt idx="2">
                  <c:v>217</c:v>
                </c:pt>
                <c:pt idx="3">
                  <c:v>283</c:v>
                </c:pt>
                <c:pt idx="4">
                  <c:v>344</c:v>
                </c:pt>
                <c:pt idx="5">
                  <c:v>410</c:v>
                </c:pt>
                <c:pt idx="6">
                  <c:v>453</c:v>
                </c:pt>
                <c:pt idx="7">
                  <c:v>491</c:v>
                </c:pt>
                <c:pt idx="8">
                  <c:v>538</c:v>
                </c:pt>
                <c:pt idx="9">
                  <c:v>583</c:v>
                </c:pt>
                <c:pt idx="10">
                  <c:v>616</c:v>
                </c:pt>
                <c:pt idx="11">
                  <c:v>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9D0-4BC0-9728-6DD5D26A0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3557336"/>
        <c:axId val="352686832"/>
      </c:barChart>
      <c:catAx>
        <c:axId val="603557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s-ES"/>
          </a:p>
        </c:txPr>
        <c:crossAx val="352686832"/>
        <c:crosses val="autoZero"/>
        <c:auto val="1"/>
        <c:lblAlgn val="ctr"/>
        <c:lblOffset val="100"/>
        <c:noMultiLvlLbl val="0"/>
      </c:catAx>
      <c:valAx>
        <c:axId val="35268683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s-ES"/>
          </a:p>
        </c:txPr>
        <c:crossAx val="60355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s-ES"/>
        </a:p>
      </c:txPr>
    </c:legend>
    <c:plotVisOnly val="1"/>
    <c:dispBlanksAs val="gap"/>
    <c:showDLblsOverMax val="0"/>
  </c:chart>
  <c:spPr>
    <a:solidFill>
      <a:schemeClr val="bg1"/>
    </a:solidFill>
    <a:ln w="25400" cap="flat" cmpd="sng" algn="ctr">
      <a:solidFill>
        <a:schemeClr val="accent1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E8CA1-7231-48D3-912E-7B278C503A5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04FF99B-9411-4EBF-A713-7D52C89DBF77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ES" sz="2400" b="1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 destacar</a:t>
          </a:r>
        </a:p>
      </dgm:t>
    </dgm:pt>
    <dgm:pt modelId="{CDAE47B4-991B-4EC4-80D5-978F1C743050}" type="parTrans" cxnId="{DC78353A-A641-45A3-A3B4-4F2F354026D9}">
      <dgm:prSet/>
      <dgm:spPr/>
      <dgm:t>
        <a:bodyPr/>
        <a:lstStyle/>
        <a:p>
          <a:endParaRPr lang="es-ES" sz="18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3B41990A-E661-467B-8B91-BBA451F02272}" type="sibTrans" cxnId="{DC78353A-A641-45A3-A3B4-4F2F354026D9}">
      <dgm:prSet/>
      <dgm:spPr/>
      <dgm:t>
        <a:bodyPr/>
        <a:lstStyle/>
        <a:p>
          <a:endParaRPr lang="es-ES" sz="18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46C5188-D680-4819-8609-B0829518257F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None/>
          </a:pPr>
          <a:endParaRPr lang="es-ES" sz="1800" kern="1200" baseline="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830768B-2AFA-4998-AEF4-726065611C2E}" type="parTrans" cxnId="{22170806-DE0C-4CC1-BDA9-582EAE5B611D}">
      <dgm:prSet/>
      <dgm:spPr/>
      <dgm:t>
        <a:bodyPr/>
        <a:lstStyle/>
        <a:p>
          <a:endParaRPr lang="es-ES" sz="18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0BCD35C-813D-4AC5-8219-59342C3C854E}" type="sibTrans" cxnId="{22170806-DE0C-4CC1-BDA9-582EAE5B611D}">
      <dgm:prSet/>
      <dgm:spPr/>
      <dgm:t>
        <a:bodyPr/>
        <a:lstStyle/>
        <a:p>
          <a:endParaRPr lang="es-ES" sz="18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026B182-0D07-42C4-8F31-7AA0D12ECE74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es-ES" sz="18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s-ES" sz="24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Portal dedicado a ofrecer datos en formato reutilizable para que sean utilizados por otros o incluso por el mismo Ayuntamiento.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B2D0AB8-39B3-4DB4-BD11-6E76D97B9E15}" type="parTrans" cxnId="{20212B08-02BF-4980-B059-BE1CACED9A4D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8E450515-028C-4DE8-A1C5-B29D628642D9}" type="sibTrans" cxnId="{20212B08-02BF-4980-B059-BE1CACED9A4D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1285A8C-EAFC-4738-8B66-5227558BDC2B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/>
          <a:endParaRPr lang="es-ES" sz="1800" kern="1200" baseline="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4E6F98F-B811-4994-8913-BB1AFBB184B0}" type="parTrans" cxnId="{2B82222F-5B95-442D-B9E4-BCF29E7DC062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3824CE2-9A5D-4547-A8B9-0B26AD182179}" type="sibTrans" cxnId="{2B82222F-5B95-442D-B9E4-BCF29E7DC062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E77DF5A2-510C-4695-ADD3-83351E44D6A2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endParaRPr lang="es-ES" sz="1800" kern="1200" dirty="0">
            <a:solidFill>
              <a:srgbClr val="0000CC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06BC55C-90EC-44EC-9E28-614625DE5B33}" type="parTrans" cxnId="{16191CCE-B688-4C67-BCF1-EC052792CD5E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F7CE879-36A7-4AAF-8764-60891BF7CCDF}" type="sibTrans" cxnId="{16191CCE-B688-4C67-BCF1-EC052792CD5E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00D2E8E-9B87-4D4C-BD59-C7690C431279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None/>
          </a:pPr>
          <a:endParaRPr lang="es-ES" sz="1800" kern="1200" dirty="0">
            <a:solidFill>
              <a:srgbClr val="0000CC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20F914C7-DC26-4F8E-BB33-B3992252E10E}" type="parTrans" cxnId="{8D2BDE07-275E-445C-BCF0-EAB4009FCF18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24434EDB-26B2-4C78-B068-000118DF94DD}" type="sibTrans" cxnId="{8D2BDE07-275E-445C-BCF0-EAB4009FCF18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A494A3D-BC16-4441-BDA3-CF2AE6102BC9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endParaRPr lang="es-ES" sz="1800" kern="1200" dirty="0">
            <a:solidFill>
              <a:srgbClr val="0000CC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A0FE542-E3DA-4E4A-BD49-5E348495A751}" type="parTrans" cxnId="{A8F24FFB-2BA0-4D79-B626-8D6A63C55E5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1D57F9B-3649-47B7-9523-2EA7C8AA732C}" type="sibTrans" cxnId="{A8F24FFB-2BA0-4D79-B626-8D6A63C55E5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E9A782D9-5897-4821-B661-23F736A38626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es-ES" altLang="es-ES" sz="2400" kern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En funcionamiento desde 2014 y creciendo mes a mes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EF21770-392A-4C21-9C39-A0E9618BCB37}" type="parTrans" cxnId="{0BD6ADA2-E4CE-4D3A-88DA-5C582C86025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2ADDC686-DCC4-40EF-A32C-09E8C4221351}" type="sibTrans" cxnId="{0BD6ADA2-E4CE-4D3A-88DA-5C582C86025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DCA8E2A-765F-4FE1-8086-A47A33A4BBC7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D0B7CD3-2DF9-409D-B2C3-C6489609A931}" type="parTrans" cxnId="{211C2331-9911-43BF-B55D-8724030907BC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275AE6E-6E56-4751-98C1-34AC2BB5BBD3}" type="sibTrans" cxnId="{211C2331-9911-43BF-B55D-8724030907BC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E70481A-6A82-4507-916C-5C047219EF54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es-ES" altLang="es-ES" sz="2400" kern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Existen unas 60 unidades del ayuntamiento que proporcionan datos para el portal.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01D6921-9606-4B25-B334-147F153433EA}" type="parTrans" cxnId="{A7E4E1A8-923E-4BAB-8B53-DDB62C94691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BA61286-3C2B-4EA5-9EFF-1AD9E7782609}" type="sibTrans" cxnId="{A7E4E1A8-923E-4BAB-8B53-DDB62C94691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D55856F-1144-4B52-863F-38586486A8E2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A5C7BFC-4FA0-4C74-ABF4-42E1879AEB06}" type="parTrans" cxnId="{D49CD938-ACCD-4AA7-9226-DB4531120EC9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C1E07B92-9248-4627-9317-6F422E93C1C4}" type="sibTrans" cxnId="{D49CD938-ACCD-4AA7-9226-DB4531120EC9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DAB84E2D-268D-4812-99D9-A1C00A363EE0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es-ES" altLang="es-ES" sz="2400" kern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En su mantenimiento periódico, hay más de 230 personas afectadas (interlocutores)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A3987BE-6A37-4C1F-85EF-9A7AA9D663C8}" type="parTrans" cxnId="{2F9DFAD6-82F1-4A63-885D-48BEAAD523F5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903FEA7-344C-4BE2-9588-F8947437A504}" type="sibTrans" cxnId="{2F9DFAD6-82F1-4A63-885D-48BEAAD523F5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E62BFDAE-CA1E-4C7B-9B4A-914CF352F9D8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618C46A-53FF-49C1-8C80-A7FEAA2850D6}" type="parTrans" cxnId="{D7F86A91-D37C-426D-A880-555192D8FCC6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5115AA8-CFB0-47CF-B30E-1C4A893035A3}" type="sibTrans" cxnId="{D7F86A91-D37C-426D-A880-555192D8FCC6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D5D0A922-AA0D-4FBD-A2F3-2174F23FEBE3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r>
            <a:rPr lang="es-E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En 2021, se implantó una nueva línea de trabajo para mostrar visualizaciones realizadas con datos abiertos</a:t>
          </a:r>
        </a:p>
      </dgm:t>
    </dgm:pt>
    <dgm:pt modelId="{E859AFC0-390D-443A-9809-1354E164CB57}" type="parTrans" cxnId="{5E8A20CA-5F2C-4A91-8D1B-5800D8B0635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D2F97922-64B2-4EAD-814A-30F72E8E8EFD}" type="sibTrans" cxnId="{5E8A20CA-5F2C-4A91-8D1B-5800D8B06354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3557ADE9-7D81-4327-B433-F7C74045A8EA}">
      <dgm:prSet custT="1"/>
      <dgm:spPr>
        <a:solidFill>
          <a:schemeClr val="accent6">
            <a:lumMod val="20000"/>
            <a:lumOff val="80000"/>
            <a:alpha val="90000"/>
          </a:schemeClr>
        </a:solidFill>
        <a:ln>
          <a:solidFill>
            <a:schemeClr val="accent6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pPr algn="l"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2D113B2-0069-4D12-9E5C-B5B060950D05}" type="parTrans" cxnId="{485F98B0-9A47-4852-9133-174BF338F42A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8B93224E-6861-4AA4-80EF-3FBB5F92BDF7}" type="sibTrans" cxnId="{485F98B0-9A47-4852-9133-174BF338F42A}">
      <dgm:prSet/>
      <dgm:spPr/>
      <dgm:t>
        <a:bodyPr/>
        <a:lstStyle/>
        <a:p>
          <a:endParaRPr lang="es-E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ACEDEB6-126F-4FF7-9122-9BA6B06562D8}" type="pres">
      <dgm:prSet presAssocID="{331E8CA1-7231-48D3-912E-7B278C503A5C}" presName="Name0" presStyleCnt="0">
        <dgm:presLayoutVars>
          <dgm:dir/>
          <dgm:animLvl val="lvl"/>
          <dgm:resizeHandles val="exact"/>
        </dgm:presLayoutVars>
      </dgm:prSet>
      <dgm:spPr/>
    </dgm:pt>
    <dgm:pt modelId="{F09089E0-45D1-404D-95F9-E2C533F09A67}" type="pres">
      <dgm:prSet presAssocID="{F04FF99B-9411-4EBF-A713-7D52C89DBF77}" presName="linNode" presStyleCnt="0"/>
      <dgm:spPr/>
    </dgm:pt>
    <dgm:pt modelId="{D1F63CE1-FD9F-48BC-8244-C553A541106A}" type="pres">
      <dgm:prSet presAssocID="{F04FF99B-9411-4EBF-A713-7D52C89DBF77}" presName="parentText" presStyleLbl="node1" presStyleIdx="0" presStyleCnt="1" custScaleX="116189" custLinFactNeighborX="-26167" custLinFactNeighborY="-25835">
        <dgm:presLayoutVars>
          <dgm:chMax val="1"/>
          <dgm:bulletEnabled val="1"/>
        </dgm:presLayoutVars>
      </dgm:prSet>
      <dgm:spPr/>
    </dgm:pt>
    <dgm:pt modelId="{B6B40AA7-8B01-49AB-948A-A266D7CFE86A}" type="pres">
      <dgm:prSet presAssocID="{F04FF99B-9411-4EBF-A713-7D52C89DBF77}" presName="descendantText" presStyleLbl="alignAccFollowNode1" presStyleIdx="0" presStyleCnt="1" custScaleX="140147" custScaleY="125000" custLinFactNeighborX="4206" custLinFactNeighborY="2105">
        <dgm:presLayoutVars>
          <dgm:bulletEnabled val="1"/>
        </dgm:presLayoutVars>
      </dgm:prSet>
      <dgm:spPr/>
    </dgm:pt>
  </dgm:ptLst>
  <dgm:cxnLst>
    <dgm:cxn modelId="{31210800-8244-478E-BB02-B795DC849248}" type="presOf" srcId="{41285A8C-EAFC-4738-8B66-5227558BDC2B}" destId="{B6B40AA7-8B01-49AB-948A-A266D7CFE86A}" srcOrd="0" destOrd="1" presId="urn:microsoft.com/office/officeart/2005/8/layout/vList5"/>
    <dgm:cxn modelId="{22170806-DE0C-4CC1-BDA9-582EAE5B611D}" srcId="{F04FF99B-9411-4EBF-A713-7D52C89DBF77}" destId="{F46C5188-D680-4819-8609-B0829518257F}" srcOrd="0" destOrd="0" parTransId="{A830768B-2AFA-4998-AEF4-726065611C2E}" sibTransId="{70BCD35C-813D-4AC5-8219-59342C3C854E}"/>
    <dgm:cxn modelId="{8D2BDE07-275E-445C-BCF0-EAB4009FCF18}" srcId="{F04FF99B-9411-4EBF-A713-7D52C89DBF77}" destId="{500D2E8E-9B87-4D4C-BD59-C7690C431279}" srcOrd="12" destOrd="0" parTransId="{20F914C7-DC26-4F8E-BB33-B3992252E10E}" sibTransId="{24434EDB-26B2-4C78-B068-000118DF94DD}"/>
    <dgm:cxn modelId="{20212B08-02BF-4980-B059-BE1CACED9A4D}" srcId="{F04FF99B-9411-4EBF-A713-7D52C89DBF77}" destId="{0026B182-0D07-42C4-8F31-7AA0D12ECE74}" srcOrd="2" destOrd="0" parTransId="{7B2D0AB8-39B3-4DB4-BD11-6E76D97B9E15}" sibTransId="{8E450515-028C-4DE8-A1C5-B29D628642D9}"/>
    <dgm:cxn modelId="{5FFF791F-065F-4980-8624-E1DB93990617}" type="presOf" srcId="{331E8CA1-7231-48D3-912E-7B278C503A5C}" destId="{BACEDEB6-126F-4FF7-9122-9BA6B06562D8}" srcOrd="0" destOrd="0" presId="urn:microsoft.com/office/officeart/2005/8/layout/vList5"/>
    <dgm:cxn modelId="{08CD852B-6B0B-4BF8-B6C1-1A9186A4283E}" type="presOf" srcId="{3557ADE9-7D81-4327-B433-F7C74045A8EA}" destId="{B6B40AA7-8B01-49AB-948A-A266D7CFE86A}" srcOrd="0" destOrd="9" presId="urn:microsoft.com/office/officeart/2005/8/layout/vList5"/>
    <dgm:cxn modelId="{2B82222F-5B95-442D-B9E4-BCF29E7DC062}" srcId="{F04FF99B-9411-4EBF-A713-7D52C89DBF77}" destId="{41285A8C-EAFC-4738-8B66-5227558BDC2B}" srcOrd="1" destOrd="0" parTransId="{74E6F98F-B811-4994-8913-BB1AFBB184B0}" sibTransId="{43824CE2-9A5D-4547-A8B9-0B26AD182179}"/>
    <dgm:cxn modelId="{211C2331-9911-43BF-B55D-8724030907BC}" srcId="{F04FF99B-9411-4EBF-A713-7D52C89DBF77}" destId="{ADCA8E2A-765F-4FE1-8086-A47A33A4BBC7}" srcOrd="3" destOrd="0" parTransId="{5D0B7CD3-2DF9-409D-B2C3-C6489609A931}" sibTransId="{5275AE6E-6E56-4751-98C1-34AC2BB5BBD3}"/>
    <dgm:cxn modelId="{D49CD938-ACCD-4AA7-9226-DB4531120EC9}" srcId="{F04FF99B-9411-4EBF-A713-7D52C89DBF77}" destId="{AD55856F-1144-4B52-863F-38586486A8E2}" srcOrd="5" destOrd="0" parTransId="{4A5C7BFC-4FA0-4C74-ABF4-42E1879AEB06}" sibTransId="{C1E07B92-9248-4627-9317-6F422E93C1C4}"/>
    <dgm:cxn modelId="{DC78353A-A641-45A3-A3B4-4F2F354026D9}" srcId="{331E8CA1-7231-48D3-912E-7B278C503A5C}" destId="{F04FF99B-9411-4EBF-A713-7D52C89DBF77}" srcOrd="0" destOrd="0" parTransId="{CDAE47B4-991B-4EC4-80D5-978F1C743050}" sibTransId="{3B41990A-E661-467B-8B91-BBA451F02272}"/>
    <dgm:cxn modelId="{38CB3367-CFD6-403E-BD35-293DFD46886F}" type="presOf" srcId="{F46C5188-D680-4819-8609-B0829518257F}" destId="{B6B40AA7-8B01-49AB-948A-A266D7CFE86A}" srcOrd="0" destOrd="0" presId="urn:microsoft.com/office/officeart/2005/8/layout/vList5"/>
    <dgm:cxn modelId="{944D674F-78C0-4B42-8D2D-F2E20A697179}" type="presOf" srcId="{DAB84E2D-268D-4812-99D9-A1C00A363EE0}" destId="{B6B40AA7-8B01-49AB-948A-A266D7CFE86A}" srcOrd="0" destOrd="8" presId="urn:microsoft.com/office/officeart/2005/8/layout/vList5"/>
    <dgm:cxn modelId="{F91A1959-B9B5-459D-A838-7E5EA5B5FA08}" type="presOf" srcId="{E77DF5A2-510C-4695-ADD3-83351E44D6A2}" destId="{B6B40AA7-8B01-49AB-948A-A266D7CFE86A}" srcOrd="0" destOrd="13" presId="urn:microsoft.com/office/officeart/2005/8/layout/vList5"/>
    <dgm:cxn modelId="{967A1990-CE45-4E96-BACD-15BA10C6CA28}" type="presOf" srcId="{0026B182-0D07-42C4-8F31-7AA0D12ECE74}" destId="{B6B40AA7-8B01-49AB-948A-A266D7CFE86A}" srcOrd="0" destOrd="2" presId="urn:microsoft.com/office/officeart/2005/8/layout/vList5"/>
    <dgm:cxn modelId="{D7F86A91-D37C-426D-A880-555192D8FCC6}" srcId="{F04FF99B-9411-4EBF-A713-7D52C89DBF77}" destId="{E62BFDAE-CA1E-4C7B-9B4A-914CF352F9D8}" srcOrd="7" destOrd="0" parTransId="{B618C46A-53FF-49C1-8C80-A7FEAA2850D6}" sibTransId="{05115AA8-CFB0-47CF-B30E-1C4A893035A3}"/>
    <dgm:cxn modelId="{A9EE7692-0E92-4F63-9FE7-40510DB135DB}" type="presOf" srcId="{D5D0A922-AA0D-4FBD-A2F3-2174F23FEBE3}" destId="{B6B40AA7-8B01-49AB-948A-A266D7CFE86A}" srcOrd="0" destOrd="10" presId="urn:microsoft.com/office/officeart/2005/8/layout/vList5"/>
    <dgm:cxn modelId="{DC579498-2A02-42FC-913A-1AFA9A926F05}" type="presOf" srcId="{7E70481A-6A82-4507-916C-5C047219EF54}" destId="{B6B40AA7-8B01-49AB-948A-A266D7CFE86A}" srcOrd="0" destOrd="6" presId="urn:microsoft.com/office/officeart/2005/8/layout/vList5"/>
    <dgm:cxn modelId="{8ED3A29B-C30E-43F8-AB74-41508403C8E3}" type="presOf" srcId="{F04FF99B-9411-4EBF-A713-7D52C89DBF77}" destId="{D1F63CE1-FD9F-48BC-8244-C553A541106A}" srcOrd="0" destOrd="0" presId="urn:microsoft.com/office/officeart/2005/8/layout/vList5"/>
    <dgm:cxn modelId="{F657FB9D-94AF-4977-80C2-6AC19EB2DFF8}" type="presOf" srcId="{ADCA8E2A-765F-4FE1-8086-A47A33A4BBC7}" destId="{B6B40AA7-8B01-49AB-948A-A266D7CFE86A}" srcOrd="0" destOrd="3" presId="urn:microsoft.com/office/officeart/2005/8/layout/vList5"/>
    <dgm:cxn modelId="{0BD6ADA2-E4CE-4D3A-88DA-5C582C860254}" srcId="{F04FF99B-9411-4EBF-A713-7D52C89DBF77}" destId="{E9A782D9-5897-4821-B661-23F736A38626}" srcOrd="4" destOrd="0" parTransId="{0EF21770-392A-4C21-9C39-A0E9618BCB37}" sibTransId="{2ADDC686-DCC4-40EF-A32C-09E8C4221351}"/>
    <dgm:cxn modelId="{A7E4E1A8-923E-4BAB-8B53-DDB62C946914}" srcId="{F04FF99B-9411-4EBF-A713-7D52C89DBF77}" destId="{7E70481A-6A82-4507-916C-5C047219EF54}" srcOrd="6" destOrd="0" parTransId="{601D6921-9606-4B25-B334-147F153433EA}" sibTransId="{FBA61286-3C2B-4EA5-9EFF-1AD9E7782609}"/>
    <dgm:cxn modelId="{E60A9BAD-69FC-4EB5-BC6A-D24D0A57E520}" type="presOf" srcId="{1A494A3D-BC16-4441-BDA3-CF2AE6102BC9}" destId="{B6B40AA7-8B01-49AB-948A-A266D7CFE86A}" srcOrd="0" destOrd="11" presId="urn:microsoft.com/office/officeart/2005/8/layout/vList5"/>
    <dgm:cxn modelId="{485F98B0-9A47-4852-9133-174BF338F42A}" srcId="{F04FF99B-9411-4EBF-A713-7D52C89DBF77}" destId="{3557ADE9-7D81-4327-B433-F7C74045A8EA}" srcOrd="9" destOrd="0" parTransId="{F2D113B2-0069-4D12-9E5C-B5B060950D05}" sibTransId="{8B93224E-6861-4AA4-80EF-3FBB5F92BDF7}"/>
    <dgm:cxn modelId="{5E8A20CA-5F2C-4A91-8D1B-5800D8B06354}" srcId="{F04FF99B-9411-4EBF-A713-7D52C89DBF77}" destId="{D5D0A922-AA0D-4FBD-A2F3-2174F23FEBE3}" srcOrd="10" destOrd="0" parTransId="{E859AFC0-390D-443A-9809-1354E164CB57}" sibTransId="{D2F97922-64B2-4EAD-814A-30F72E8E8EFD}"/>
    <dgm:cxn modelId="{E526A3CA-2D6D-471A-8CA3-914650156852}" type="presOf" srcId="{E9A782D9-5897-4821-B661-23F736A38626}" destId="{B6B40AA7-8B01-49AB-948A-A266D7CFE86A}" srcOrd="0" destOrd="4" presId="urn:microsoft.com/office/officeart/2005/8/layout/vList5"/>
    <dgm:cxn modelId="{16191CCE-B688-4C67-BCF1-EC052792CD5E}" srcId="{F04FF99B-9411-4EBF-A713-7D52C89DBF77}" destId="{E77DF5A2-510C-4695-ADD3-83351E44D6A2}" srcOrd="13" destOrd="0" parTransId="{A06BC55C-90EC-44EC-9E28-614625DE5B33}" sibTransId="{1F7CE879-36A7-4AAF-8764-60891BF7CCDF}"/>
    <dgm:cxn modelId="{39489ACE-55E8-46CB-BD8C-5C8F577B1F7F}" type="presOf" srcId="{E62BFDAE-CA1E-4C7B-9B4A-914CF352F9D8}" destId="{B6B40AA7-8B01-49AB-948A-A266D7CFE86A}" srcOrd="0" destOrd="7" presId="urn:microsoft.com/office/officeart/2005/8/layout/vList5"/>
    <dgm:cxn modelId="{2F9DFAD6-82F1-4A63-885D-48BEAAD523F5}" srcId="{F04FF99B-9411-4EBF-A713-7D52C89DBF77}" destId="{DAB84E2D-268D-4812-99D9-A1C00A363EE0}" srcOrd="8" destOrd="0" parTransId="{1A3987BE-6A37-4C1F-85EF-9A7AA9D663C8}" sibTransId="{A903FEA7-344C-4BE2-9588-F8947437A504}"/>
    <dgm:cxn modelId="{440201F7-B9C1-488B-B297-D7B7974BBE2D}" type="presOf" srcId="{AD55856F-1144-4B52-863F-38586486A8E2}" destId="{B6B40AA7-8B01-49AB-948A-A266D7CFE86A}" srcOrd="0" destOrd="5" presId="urn:microsoft.com/office/officeart/2005/8/layout/vList5"/>
    <dgm:cxn modelId="{A8F24FFB-2BA0-4D79-B626-8D6A63C55E54}" srcId="{F04FF99B-9411-4EBF-A713-7D52C89DBF77}" destId="{1A494A3D-BC16-4441-BDA3-CF2AE6102BC9}" srcOrd="11" destOrd="0" parTransId="{1A0FE542-E3DA-4E4A-BD49-5E348495A751}" sibTransId="{11D57F9B-3649-47B7-9523-2EA7C8AA732C}"/>
    <dgm:cxn modelId="{3F2DC4FD-92EA-4114-8CF2-2B889726B2D5}" type="presOf" srcId="{500D2E8E-9B87-4D4C-BD59-C7690C431279}" destId="{B6B40AA7-8B01-49AB-948A-A266D7CFE86A}" srcOrd="0" destOrd="12" presId="urn:microsoft.com/office/officeart/2005/8/layout/vList5"/>
    <dgm:cxn modelId="{F5AB6EEE-2B5E-473A-9F88-74C13FC14CA1}" type="presParOf" srcId="{BACEDEB6-126F-4FF7-9122-9BA6B06562D8}" destId="{F09089E0-45D1-404D-95F9-E2C533F09A67}" srcOrd="0" destOrd="0" presId="urn:microsoft.com/office/officeart/2005/8/layout/vList5"/>
    <dgm:cxn modelId="{35C30239-6398-4633-A8C1-B58E4DDD6156}" type="presParOf" srcId="{F09089E0-45D1-404D-95F9-E2C533F09A67}" destId="{D1F63CE1-FD9F-48BC-8244-C553A541106A}" srcOrd="0" destOrd="0" presId="urn:microsoft.com/office/officeart/2005/8/layout/vList5"/>
    <dgm:cxn modelId="{69ED066D-4512-418B-9421-22E8277EBA48}" type="presParOf" srcId="{F09089E0-45D1-404D-95F9-E2C533F09A67}" destId="{B6B40AA7-8B01-49AB-948A-A266D7CFE86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7C208B-FE28-429B-B392-8741CF67AE00}" type="doc">
      <dgm:prSet loTypeId="urn:microsoft.com/office/officeart/2005/8/layout/matrix2" loCatId="matrix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CC0C711-439B-4529-98C4-262508227AE2}">
      <dgm:prSet phldrT="[Texto]" custT="1"/>
      <dgm:spPr/>
      <dgm:t>
        <a:bodyPr/>
        <a:lstStyle/>
        <a:p>
          <a:r>
            <a:rPr lang="es-ES" sz="3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Más funcionalidad</a:t>
          </a:r>
        </a:p>
      </dgm:t>
    </dgm:pt>
    <dgm:pt modelId="{2FD07079-AD8B-4F06-A50A-F74C2BB08424}" type="parTrans" cxnId="{5B08F77A-1B34-40D7-876F-65A1AB1E5F61}">
      <dgm:prSet/>
      <dgm:spPr/>
      <dgm:t>
        <a:bodyPr/>
        <a:lstStyle/>
        <a:p>
          <a:endParaRPr lang="es-ES"/>
        </a:p>
      </dgm:t>
    </dgm:pt>
    <dgm:pt modelId="{7E9BB244-51A4-4C4E-83C5-AF9CABABBF0F}" type="sibTrans" cxnId="{5B08F77A-1B34-40D7-876F-65A1AB1E5F61}">
      <dgm:prSet/>
      <dgm:spPr/>
      <dgm:t>
        <a:bodyPr/>
        <a:lstStyle/>
        <a:p>
          <a:endParaRPr lang="es-ES"/>
        </a:p>
      </dgm:t>
    </dgm:pt>
    <dgm:pt modelId="{39477735-2D89-46EE-B574-18751365BFCB}">
      <dgm:prSet phldrT="[Texto]" custT="1"/>
      <dgm:spPr/>
      <dgm:t>
        <a:bodyPr/>
        <a:lstStyle/>
        <a:p>
          <a:r>
            <a:rPr lang="es-ES" sz="3600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Mejor experiencia de usuario</a:t>
          </a:r>
        </a:p>
      </dgm:t>
    </dgm:pt>
    <dgm:pt modelId="{DDEA247E-75AD-4706-AD2C-F4BA0BD1537E}" type="parTrans" cxnId="{41751C4A-C02A-43CA-AAB2-704689575635}">
      <dgm:prSet/>
      <dgm:spPr/>
      <dgm:t>
        <a:bodyPr/>
        <a:lstStyle/>
        <a:p>
          <a:endParaRPr lang="es-ES"/>
        </a:p>
      </dgm:t>
    </dgm:pt>
    <dgm:pt modelId="{00125F9B-928A-4658-A013-4F25137DCBFF}" type="sibTrans" cxnId="{41751C4A-C02A-43CA-AAB2-704689575635}">
      <dgm:prSet/>
      <dgm:spPr/>
      <dgm:t>
        <a:bodyPr/>
        <a:lstStyle/>
        <a:p>
          <a:endParaRPr lang="es-ES"/>
        </a:p>
      </dgm:t>
    </dgm:pt>
    <dgm:pt modelId="{C5873C68-7B1B-447B-A851-5A30201C5A6C}">
      <dgm:prSet phldrT="[Texto]" custT="1"/>
      <dgm:spPr/>
      <dgm:t>
        <a:bodyPr/>
        <a:lstStyle/>
        <a:p>
          <a:r>
            <a:rPr lang="es-ES" sz="3600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Más </a:t>
          </a:r>
          <a:r>
            <a:rPr lang="es-ES" sz="3600" kern="1200" dirty="0" err="1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APIs</a:t>
          </a:r>
          <a:endParaRPr lang="es-ES" sz="3600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2CBE9C2-9DB4-4E89-9F76-EEAC1E6CECDD}" type="parTrans" cxnId="{D642A8EF-5693-4984-83C4-EC7F210A9233}">
      <dgm:prSet/>
      <dgm:spPr/>
      <dgm:t>
        <a:bodyPr/>
        <a:lstStyle/>
        <a:p>
          <a:endParaRPr lang="es-ES"/>
        </a:p>
      </dgm:t>
    </dgm:pt>
    <dgm:pt modelId="{5CC7292A-FCE7-4A09-8398-0081B0B9F58B}" type="sibTrans" cxnId="{D642A8EF-5693-4984-83C4-EC7F210A9233}">
      <dgm:prSet/>
      <dgm:spPr/>
      <dgm:t>
        <a:bodyPr/>
        <a:lstStyle/>
        <a:p>
          <a:endParaRPr lang="es-ES"/>
        </a:p>
      </dgm:t>
    </dgm:pt>
    <dgm:pt modelId="{F582DA86-90FF-4B70-99C7-0C4F09BF8A27}">
      <dgm:prSet phldrT="[Texto]" custT="1"/>
      <dgm:spPr/>
      <dgm:t>
        <a:bodyPr/>
        <a:lstStyle/>
        <a:p>
          <a:r>
            <a:rPr lang="es-ES" sz="3600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Más flexibilidad</a:t>
          </a:r>
        </a:p>
      </dgm:t>
    </dgm:pt>
    <dgm:pt modelId="{52835DDD-8249-4F7F-B97D-98240B5F3A32}" type="parTrans" cxnId="{27F6C66F-6897-43CD-ACEC-7BD98D4AFAAE}">
      <dgm:prSet/>
      <dgm:spPr/>
      <dgm:t>
        <a:bodyPr/>
        <a:lstStyle/>
        <a:p>
          <a:endParaRPr lang="es-ES"/>
        </a:p>
      </dgm:t>
    </dgm:pt>
    <dgm:pt modelId="{8431F04C-0CFE-42F6-834F-2AA3C9C408E1}" type="sibTrans" cxnId="{27F6C66F-6897-43CD-ACEC-7BD98D4AFAAE}">
      <dgm:prSet/>
      <dgm:spPr/>
      <dgm:t>
        <a:bodyPr/>
        <a:lstStyle/>
        <a:p>
          <a:endParaRPr lang="es-ES"/>
        </a:p>
      </dgm:t>
    </dgm:pt>
    <dgm:pt modelId="{800732D2-1698-44FF-AA16-24EC5DC31CD1}" type="pres">
      <dgm:prSet presAssocID="{1D7C208B-FE28-429B-B392-8741CF67AE00}" presName="matrix" presStyleCnt="0">
        <dgm:presLayoutVars>
          <dgm:chMax val="1"/>
          <dgm:dir/>
          <dgm:resizeHandles val="exact"/>
        </dgm:presLayoutVars>
      </dgm:prSet>
      <dgm:spPr/>
    </dgm:pt>
    <dgm:pt modelId="{AF662B71-F24F-4493-B36D-BA7E92297390}" type="pres">
      <dgm:prSet presAssocID="{1D7C208B-FE28-429B-B392-8741CF67AE00}" presName="axisShape" presStyleLbl="bgShp" presStyleIdx="0" presStyleCnt="1" custScaleX="163602"/>
      <dgm:spPr>
        <a:solidFill>
          <a:schemeClr val="accent1">
            <a:lumMod val="60000"/>
            <a:lumOff val="40000"/>
          </a:schemeClr>
        </a:solidFill>
      </dgm:spPr>
    </dgm:pt>
    <dgm:pt modelId="{AC01A593-638E-4781-913D-B20607E21983}" type="pres">
      <dgm:prSet presAssocID="{1D7C208B-FE28-429B-B392-8741CF67AE00}" presName="rect1" presStyleLbl="node1" presStyleIdx="0" presStyleCnt="4" custScaleX="213452" custLinFactNeighborX="-54776" custLinFactNeighborY="-1226">
        <dgm:presLayoutVars>
          <dgm:chMax val="0"/>
          <dgm:chPref val="0"/>
          <dgm:bulletEnabled val="1"/>
        </dgm:presLayoutVars>
      </dgm:prSet>
      <dgm:spPr/>
    </dgm:pt>
    <dgm:pt modelId="{5335DEF2-1B41-42E9-8CE5-680ECE4A42C0}" type="pres">
      <dgm:prSet presAssocID="{1D7C208B-FE28-429B-B392-8741CF67AE00}" presName="rect2" presStyleLbl="node1" presStyleIdx="1" presStyleCnt="4" custScaleX="213452" custLinFactNeighborX="64511" custLinFactNeighborY="-1226">
        <dgm:presLayoutVars>
          <dgm:chMax val="0"/>
          <dgm:chPref val="0"/>
          <dgm:bulletEnabled val="1"/>
        </dgm:presLayoutVars>
      </dgm:prSet>
      <dgm:spPr/>
    </dgm:pt>
    <dgm:pt modelId="{DF5BCE94-9DFA-4F7B-8173-F414EFB7148F}" type="pres">
      <dgm:prSet presAssocID="{1D7C208B-FE28-429B-B392-8741CF67AE00}" presName="rect3" presStyleLbl="node1" presStyleIdx="2" presStyleCnt="4" custScaleX="213452" custLinFactNeighborX="-52289">
        <dgm:presLayoutVars>
          <dgm:chMax val="0"/>
          <dgm:chPref val="0"/>
          <dgm:bulletEnabled val="1"/>
        </dgm:presLayoutVars>
      </dgm:prSet>
      <dgm:spPr/>
    </dgm:pt>
    <dgm:pt modelId="{F2B1A75F-3EC1-4D12-860E-E6B28FE2BCD4}" type="pres">
      <dgm:prSet presAssocID="{1D7C208B-FE28-429B-B392-8741CF67AE00}" presName="rect4" presStyleLbl="node1" presStyleIdx="3" presStyleCnt="4" custScaleX="213452" custLinFactNeighborX="58861" custLinFactNeighborY="-1551">
        <dgm:presLayoutVars>
          <dgm:chMax val="0"/>
          <dgm:chPref val="0"/>
          <dgm:bulletEnabled val="1"/>
        </dgm:presLayoutVars>
      </dgm:prSet>
      <dgm:spPr/>
    </dgm:pt>
  </dgm:ptLst>
  <dgm:cxnLst>
    <dgm:cxn modelId="{376AE842-4AEB-4275-9994-01576339C3D6}" type="presOf" srcId="{ACC0C711-439B-4529-98C4-262508227AE2}" destId="{AC01A593-638E-4781-913D-B20607E21983}" srcOrd="0" destOrd="0" presId="urn:microsoft.com/office/officeart/2005/8/layout/matrix2"/>
    <dgm:cxn modelId="{41751C4A-C02A-43CA-AAB2-704689575635}" srcId="{1D7C208B-FE28-429B-B392-8741CF67AE00}" destId="{39477735-2D89-46EE-B574-18751365BFCB}" srcOrd="1" destOrd="0" parTransId="{DDEA247E-75AD-4706-AD2C-F4BA0BD1537E}" sibTransId="{00125F9B-928A-4658-A013-4F25137DCBFF}"/>
    <dgm:cxn modelId="{27F6C66F-6897-43CD-ACEC-7BD98D4AFAAE}" srcId="{1D7C208B-FE28-429B-B392-8741CF67AE00}" destId="{F582DA86-90FF-4B70-99C7-0C4F09BF8A27}" srcOrd="3" destOrd="0" parTransId="{52835DDD-8249-4F7F-B97D-98240B5F3A32}" sibTransId="{8431F04C-0CFE-42F6-834F-2AA3C9C408E1}"/>
    <dgm:cxn modelId="{5B08F77A-1B34-40D7-876F-65A1AB1E5F61}" srcId="{1D7C208B-FE28-429B-B392-8741CF67AE00}" destId="{ACC0C711-439B-4529-98C4-262508227AE2}" srcOrd="0" destOrd="0" parTransId="{2FD07079-AD8B-4F06-A50A-F74C2BB08424}" sibTransId="{7E9BB244-51A4-4C4E-83C5-AF9CABABBF0F}"/>
    <dgm:cxn modelId="{9655887D-C935-4D89-8D99-2E1CAB962BE0}" type="presOf" srcId="{C5873C68-7B1B-447B-A851-5A30201C5A6C}" destId="{DF5BCE94-9DFA-4F7B-8173-F414EFB7148F}" srcOrd="0" destOrd="0" presId="urn:microsoft.com/office/officeart/2005/8/layout/matrix2"/>
    <dgm:cxn modelId="{77F49A7F-0B82-4F0F-AEA6-1C02A8397D41}" type="presOf" srcId="{F582DA86-90FF-4B70-99C7-0C4F09BF8A27}" destId="{F2B1A75F-3EC1-4D12-860E-E6B28FE2BCD4}" srcOrd="0" destOrd="0" presId="urn:microsoft.com/office/officeart/2005/8/layout/matrix2"/>
    <dgm:cxn modelId="{5718B0AA-53FC-4196-B606-84E5E271C56E}" type="presOf" srcId="{1D7C208B-FE28-429B-B392-8741CF67AE00}" destId="{800732D2-1698-44FF-AA16-24EC5DC31CD1}" srcOrd="0" destOrd="0" presId="urn:microsoft.com/office/officeart/2005/8/layout/matrix2"/>
    <dgm:cxn modelId="{1FA7D8E6-021E-4DC9-9E81-0351D6C89358}" type="presOf" srcId="{39477735-2D89-46EE-B574-18751365BFCB}" destId="{5335DEF2-1B41-42E9-8CE5-680ECE4A42C0}" srcOrd="0" destOrd="0" presId="urn:microsoft.com/office/officeart/2005/8/layout/matrix2"/>
    <dgm:cxn modelId="{D642A8EF-5693-4984-83C4-EC7F210A9233}" srcId="{1D7C208B-FE28-429B-B392-8741CF67AE00}" destId="{C5873C68-7B1B-447B-A851-5A30201C5A6C}" srcOrd="2" destOrd="0" parTransId="{F2CBE9C2-9DB4-4E89-9F76-EEAC1E6CECDD}" sibTransId="{5CC7292A-FCE7-4A09-8398-0081B0B9F58B}"/>
    <dgm:cxn modelId="{A4E8FFDD-3A90-40AC-BDC6-A0470B111C86}" type="presParOf" srcId="{800732D2-1698-44FF-AA16-24EC5DC31CD1}" destId="{AF662B71-F24F-4493-B36D-BA7E92297390}" srcOrd="0" destOrd="0" presId="urn:microsoft.com/office/officeart/2005/8/layout/matrix2"/>
    <dgm:cxn modelId="{B8F62622-AAE7-40D4-A509-A607896F7A7B}" type="presParOf" srcId="{800732D2-1698-44FF-AA16-24EC5DC31CD1}" destId="{AC01A593-638E-4781-913D-B20607E21983}" srcOrd="1" destOrd="0" presId="urn:microsoft.com/office/officeart/2005/8/layout/matrix2"/>
    <dgm:cxn modelId="{AA44CF9A-F6C3-4FE6-A29E-09B3A52E2DDC}" type="presParOf" srcId="{800732D2-1698-44FF-AA16-24EC5DC31CD1}" destId="{5335DEF2-1B41-42E9-8CE5-680ECE4A42C0}" srcOrd="2" destOrd="0" presId="urn:microsoft.com/office/officeart/2005/8/layout/matrix2"/>
    <dgm:cxn modelId="{3AE9B70F-9BF4-4B3E-BCC6-8AC63915B1A0}" type="presParOf" srcId="{800732D2-1698-44FF-AA16-24EC5DC31CD1}" destId="{DF5BCE94-9DFA-4F7B-8173-F414EFB7148F}" srcOrd="3" destOrd="0" presId="urn:microsoft.com/office/officeart/2005/8/layout/matrix2"/>
    <dgm:cxn modelId="{649E2E85-5B27-41CE-ACD6-C8D5351AFD2C}" type="presParOf" srcId="{800732D2-1698-44FF-AA16-24EC5DC31CD1}" destId="{F2B1A75F-3EC1-4D12-860E-E6B28FE2BCD4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40AA7-8B01-49AB-948A-A266D7CFE86A}">
      <dsp:nvSpPr>
        <dsp:cNvPr id="0" name=""/>
        <dsp:cNvSpPr/>
      </dsp:nvSpPr>
      <dsp:spPr>
        <a:xfrm rot="5400000">
          <a:off x="4717823" y="-975912"/>
          <a:ext cx="6029112" cy="7992724"/>
        </a:xfrm>
        <a:prstGeom prst="round2SameRect">
          <a:avLst/>
        </a:prstGeom>
        <a:solidFill>
          <a:schemeClr val="accent6">
            <a:lumMod val="20000"/>
            <a:lumOff val="80000"/>
            <a:alpha val="90000"/>
          </a:schemeClr>
        </a:solidFill>
        <a:ln w="25400" cap="flat" cmpd="sng" algn="ctr">
          <a:solidFill>
            <a:schemeClr val="accent6">
              <a:lumMod val="20000"/>
              <a:lumOff val="80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s-ES" sz="1800" kern="1200" baseline="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800" kern="1200" baseline="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s-ES" sz="18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s-ES" sz="24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Portal dedicado a ofrecer datos en formato reutilizable para que sean utilizados por otros o incluso por el mismo Ayuntamiento.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s-ES" altLang="es-ES" sz="2400" kern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En funcionamiento desde 2014 y creciendo mes a mes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s-ES" altLang="es-ES" sz="2400" kern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Existen unas 60 unidades del ayuntamiento que proporcionan datos para el portal.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s-ES" altLang="es-ES" sz="2400" kern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En su mantenimiento periódico, hay más de 230 personas afectadas (interlocutores)</a:t>
          </a: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es-ES" sz="24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s-E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En 2021, se implantó una nueva línea de trabajo para mostrar visualizaciones realizadas con datos abiertos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es-ES" sz="1800" kern="1200" dirty="0">
            <a:solidFill>
              <a:srgbClr val="0000CC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s-ES" sz="1800" kern="1200" dirty="0">
            <a:solidFill>
              <a:srgbClr val="0000CC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endParaRPr lang="es-ES" sz="1800" kern="1200" dirty="0">
            <a:solidFill>
              <a:srgbClr val="0000CC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 rot="-5400000">
        <a:off x="3736018" y="300210"/>
        <a:ext cx="7698407" cy="5440478"/>
      </dsp:txXfrm>
    </dsp:sp>
    <dsp:sp modelId="{D1F63CE1-FD9F-48BC-8244-C553A541106A}">
      <dsp:nvSpPr>
        <dsp:cNvPr id="0" name=""/>
        <dsp:cNvSpPr/>
      </dsp:nvSpPr>
      <dsp:spPr>
        <a:xfrm>
          <a:off x="0" y="0"/>
          <a:ext cx="3727336" cy="6029112"/>
        </a:xfrm>
        <a:prstGeom prst="round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 destacar</a:t>
          </a:r>
        </a:p>
      </dsp:txBody>
      <dsp:txXfrm>
        <a:off x="181954" y="181954"/>
        <a:ext cx="3363428" cy="56652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662B71-F24F-4493-B36D-BA7E92297390}">
      <dsp:nvSpPr>
        <dsp:cNvPr id="0" name=""/>
        <dsp:cNvSpPr/>
      </dsp:nvSpPr>
      <dsp:spPr>
        <a:xfrm>
          <a:off x="501789" y="0"/>
          <a:ext cx="10347172" cy="63246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01A593-638E-4781-913D-B20607E21983}">
      <dsp:nvSpPr>
        <dsp:cNvPr id="0" name=""/>
        <dsp:cNvSpPr/>
      </dsp:nvSpPr>
      <dsp:spPr>
        <a:xfrm>
          <a:off x="103352" y="380083"/>
          <a:ext cx="5399994" cy="2529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Más funcionalidad</a:t>
          </a:r>
        </a:p>
      </dsp:txBody>
      <dsp:txXfrm>
        <a:off x="226849" y="503580"/>
        <a:ext cx="5153000" cy="2282846"/>
      </dsp:txXfrm>
    </dsp:sp>
    <dsp:sp modelId="{5335DEF2-1B41-42E9-8CE5-680ECE4A42C0}">
      <dsp:nvSpPr>
        <dsp:cNvPr id="0" name=""/>
        <dsp:cNvSpPr/>
      </dsp:nvSpPr>
      <dsp:spPr>
        <a:xfrm>
          <a:off x="5950757" y="380083"/>
          <a:ext cx="5399994" cy="25298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Mejor experiencia de usuario</a:t>
          </a:r>
        </a:p>
      </dsp:txBody>
      <dsp:txXfrm>
        <a:off x="6074254" y="503580"/>
        <a:ext cx="5153000" cy="2282846"/>
      </dsp:txXfrm>
    </dsp:sp>
    <dsp:sp modelId="{DF5BCE94-9DFA-4F7B-8173-F414EFB7148F}">
      <dsp:nvSpPr>
        <dsp:cNvPr id="0" name=""/>
        <dsp:cNvSpPr/>
      </dsp:nvSpPr>
      <dsp:spPr>
        <a:xfrm>
          <a:off x="166269" y="3383661"/>
          <a:ext cx="5399994" cy="2529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Más </a:t>
          </a:r>
          <a:r>
            <a:rPr lang="es-ES" sz="3600" kern="1200" dirty="0" err="1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APIs</a:t>
          </a:r>
          <a:endParaRPr lang="es-ES" sz="3600" kern="1200" dirty="0">
            <a:solidFill>
              <a:prstClr val="white"/>
            </a:solidFill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289766" y="3507158"/>
        <a:ext cx="5153000" cy="2282846"/>
      </dsp:txXfrm>
    </dsp:sp>
    <dsp:sp modelId="{F2B1A75F-3EC1-4D12-860E-E6B28FE2BCD4}">
      <dsp:nvSpPr>
        <dsp:cNvPr id="0" name=""/>
        <dsp:cNvSpPr/>
      </dsp:nvSpPr>
      <dsp:spPr>
        <a:xfrm>
          <a:off x="5950749" y="3344423"/>
          <a:ext cx="5399994" cy="2529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prstClr val="whit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Más flexibilidad</a:t>
          </a:r>
        </a:p>
      </dsp:txBody>
      <dsp:txXfrm>
        <a:off x="6074246" y="3467920"/>
        <a:ext cx="5153000" cy="2282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E52E8-AF26-4FF5-846B-1204F04B46A2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8D19E-A839-4CF8-B70C-9E7A615BAA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54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pilares de la transparencia son: La Publicidad Activa, El Acceso a Información Publica y los Datos Abiertos. No son iniciativas disjuntas, y muchas veces la misma información aparece o es solicitada o publicada por alguno de estos pilares.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68492-17EF-417F-AA9C-CF47AF9F243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157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>
          <a:xfrm>
            <a:off x="259307" y="4861235"/>
            <a:ext cx="6496335" cy="504704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7072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60558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8D19E-A839-4CF8-B70C-9E7A615BAAE7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7721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934A2FF8-4559-4149-8B79-D85ED6F0B853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0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74F43DC-6EDA-4D74-8B4D-EE036F982A34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87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c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Marcador de posición de imagen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9" name="Texto de instrucciones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es-ES" sz="1200" b="1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NOTA:</a:t>
            </a:r>
          </a:p>
          <a:p>
            <a:pPr defTabSz="914400"/>
            <a:r>
              <a:rPr lang="es-ES" sz="1200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Para cambiar la imagen de esta diapositiva, seleccione la imagen y elimínela. Después, haga clic en el icono Imágenes del marcador de posición para insertar su propia imagen.</a:t>
            </a:r>
          </a:p>
        </p:txBody>
      </p:sp>
    </p:spTree>
    <p:extLst>
      <p:ext uri="{BB962C8B-B14F-4D97-AF65-F5344CB8AC3E}">
        <p14:creationId xmlns:p14="http://schemas.microsoft.com/office/powerpoint/2010/main" val="178826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c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rgbClr val="F3A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rgbClr val="F3A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11" name="Marcador de posición de imagen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9" name="Texto de instrucciones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es-ES" sz="1200" b="1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NOTA:</a:t>
            </a:r>
          </a:p>
          <a:p>
            <a:pPr defTabSz="914400"/>
            <a:r>
              <a:rPr lang="es-ES" sz="1200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Para cambiar la imagen de esta diapositiva, seleccione la imagen y elimínela. Después, haga clic en el icono Imágenes del marcador de posición para insertar su propia imagen.</a:t>
            </a:r>
          </a:p>
        </p:txBody>
      </p:sp>
    </p:spTree>
    <p:extLst>
      <p:ext uri="{BB962C8B-B14F-4D97-AF65-F5344CB8AC3E}">
        <p14:creationId xmlns:p14="http://schemas.microsoft.com/office/powerpoint/2010/main" val="350708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c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rgbClr val="A1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rgbClr val="A1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Marcador de posición de imagen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9" name="Texto de instrucciones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es-ES" sz="1200" b="1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NOTA:</a:t>
            </a:r>
          </a:p>
          <a:p>
            <a:pPr defTabSz="914400"/>
            <a:r>
              <a:rPr lang="es-ES" sz="1200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Para cambiar la imagen de esta diapositiva, seleccione la imagen y elimínela. Después, haga clic en el icono Imágenes del marcador de posición para insertar su propia imagen.</a:t>
            </a:r>
          </a:p>
        </p:txBody>
      </p:sp>
    </p:spTree>
    <p:extLst>
      <p:ext uri="{BB962C8B-B14F-4D97-AF65-F5344CB8AC3E}">
        <p14:creationId xmlns:p14="http://schemas.microsoft.com/office/powerpoint/2010/main" val="291585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c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á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>
              <a:solidFill>
                <a:srgbClr val="FFFFFF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Marcador de posición de imagen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9" name="Texto de instrucciones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es-ES" sz="1200" b="1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NOTA:</a:t>
            </a:r>
          </a:p>
          <a:p>
            <a:pPr defTabSz="914400"/>
            <a:r>
              <a:rPr lang="es-ES" sz="1200" i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Para cambiar la imagen de esta diapositiva, seleccione la imagen y elimínela. Después, haga clic en el icono Imágenes del marcador de posición para insertar su propia imagen.</a:t>
            </a:r>
          </a:p>
        </p:txBody>
      </p:sp>
    </p:spTree>
    <p:extLst>
      <p:ext uri="{BB962C8B-B14F-4D97-AF65-F5344CB8AC3E}">
        <p14:creationId xmlns:p14="http://schemas.microsoft.com/office/powerpoint/2010/main" val="1855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ector rec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ángu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>
                <a:solidFill>
                  <a:srgbClr val="FFFFFF"/>
                </a:solidFill>
              </a:endParaRPr>
            </a:p>
          </p:txBody>
        </p:sp>
        <p:grpSp>
          <p:nvGrpSpPr>
            <p:cNvPr id="11" name="Gru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ector rec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385DCDB-4A77-4170-9E07-5F1D7C0A0A5B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3C6D8C4-ADF9-42A1-9ABC-C61A9E9D2D08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16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5B79CF11-FD05-4F88-8EC3-5D4F176B79FC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24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FEAFC309-1B63-44A4-A9FC-29FA1501E26B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41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7850802-155D-414A-A9FD-662B6F0E4656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78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5146D9C0-42AF-411F-B87E-5CF0AD6A3E2D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46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99FE88BC-BA9C-41DB-8175-8FC1D1B95355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22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7776A268-E945-41BF-9F85-D7A3B8400346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42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s-ES" dirty="0">
                <a:solidFill>
                  <a:srgbClr val="514843">
                    <a:lumMod val="60000"/>
                    <a:lumOff val="40000"/>
                  </a:srgbClr>
                </a:solidFill>
              </a:rPr>
              <a:t>​</a:t>
            </a:r>
            <a:fld id="{CEC05348-D021-422A-8D9F-89EEB8C0F442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ector rec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84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5468" y="2130428"/>
            <a:ext cx="9982133" cy="1470025"/>
          </a:xfrm>
        </p:spPr>
        <p:txBody>
          <a:bodyPr/>
          <a:lstStyle>
            <a:lvl1pPr>
              <a:defRPr>
                <a:solidFill>
                  <a:srgbClr val="003CF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351584" y="3886200"/>
            <a:ext cx="801161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1497B6-99FD-4307-92AE-29AC7F5F5751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984542-9684-4A45-BAB0-0CDE5956AF56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dirty="0"/>
              <a:t>OB-03-4085-P-20 Gestión de la aplicación de agendas de cargos públicos y registro de Lobbies</a:t>
            </a:r>
          </a:p>
        </p:txBody>
      </p:sp>
    </p:spTree>
    <p:extLst>
      <p:ext uri="{BB962C8B-B14F-4D97-AF65-F5344CB8AC3E}">
        <p14:creationId xmlns:p14="http://schemas.microsoft.com/office/powerpoint/2010/main" val="615698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FFB0-20AD-44E9-B2A5-B3219E3F0139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ADBB08-342E-4679-817A-4A8FF17D612E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dirty="0"/>
              <a:t>OB-03-4085-P-20 Gestión de la aplicación de agendas de cargos públicos y registro de Lobbies</a:t>
            </a:r>
          </a:p>
        </p:txBody>
      </p:sp>
    </p:spTree>
    <p:extLst>
      <p:ext uri="{BB962C8B-B14F-4D97-AF65-F5344CB8AC3E}">
        <p14:creationId xmlns:p14="http://schemas.microsoft.com/office/powerpoint/2010/main" val="3973137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3D3E9-69B3-4136-AC18-09E9C8183D33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72BE0-DF9C-4BDB-84B8-578373D18847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dirty="0"/>
              <a:t>OB-03-4085-P-20 Gestión de la aplicación de agendas de cargos públicos y registro de Lobbies</a:t>
            </a:r>
          </a:p>
        </p:txBody>
      </p:sp>
    </p:spTree>
    <p:extLst>
      <p:ext uri="{BB962C8B-B14F-4D97-AF65-F5344CB8AC3E}">
        <p14:creationId xmlns:p14="http://schemas.microsoft.com/office/powerpoint/2010/main" val="1772921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796032" y="1916835"/>
            <a:ext cx="5198368" cy="42093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384032" y="1916835"/>
            <a:ext cx="5198368" cy="42093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50417-EE4D-453E-AC9B-55FDC8F62E39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6D02B-5C24-4B40-93E8-3688DCA8982F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dirty="0"/>
              <a:t>OB-03-4085-P-20 Gestión de la aplicación de agendas de cargos públicos y registro de Lobbies</a:t>
            </a:r>
          </a:p>
        </p:txBody>
      </p:sp>
    </p:spTree>
    <p:extLst>
      <p:ext uri="{BB962C8B-B14F-4D97-AF65-F5344CB8AC3E}">
        <p14:creationId xmlns:p14="http://schemas.microsoft.com/office/powerpoint/2010/main" val="23183844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15413" y="1925142"/>
            <a:ext cx="518110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815413" y="2636913"/>
            <a:ext cx="5181104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399261" y="1925142"/>
            <a:ext cx="518313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399261" y="2636913"/>
            <a:ext cx="5183139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69613-7600-4E42-8046-93B9EF5162C0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B9987-9E53-4A55-A70D-2882F9E462B6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10" name="4 Marcador de pie de página"/>
          <p:cNvSpPr>
            <a:spLocks noGrp="1"/>
          </p:cNvSpPr>
          <p:nvPr>
            <p:ph type="ftr" sz="quarter" idx="13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dirty="0"/>
              <a:t>OB-03-4085-P-20 Gestión de la aplicación de agendas de cargos públicos y registro de Lobbies</a:t>
            </a:r>
          </a:p>
        </p:txBody>
      </p:sp>
    </p:spTree>
    <p:extLst>
      <p:ext uri="{BB962C8B-B14F-4D97-AF65-F5344CB8AC3E}">
        <p14:creationId xmlns:p14="http://schemas.microsoft.com/office/powerpoint/2010/main" val="915022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AA4B4-647D-464D-B697-AF45FD69FD02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574BF-1B8B-41B7-8727-8F200C1FFAD8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dirty="0"/>
              <a:t>OB-03-4085-P-20 Gestión de la aplicación de agendas de cargos públicos y registro de Lobbies</a:t>
            </a:r>
          </a:p>
        </p:txBody>
      </p:sp>
    </p:spTree>
    <p:extLst>
      <p:ext uri="{BB962C8B-B14F-4D97-AF65-F5344CB8AC3E}">
        <p14:creationId xmlns:p14="http://schemas.microsoft.com/office/powerpoint/2010/main" val="1255780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BFCDF-FCFA-4121-9540-343B67990A4E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s-ES" b="1" dirty="0"/>
          </a:p>
          <a:p>
            <a:pPr>
              <a:defRPr/>
            </a:pPr>
            <a:r>
              <a:rPr lang="es-ES" b="1" dirty="0"/>
              <a:t>R 01-2517-P    GOBIERNO ABIERTO</a:t>
            </a:r>
            <a:br>
              <a:rPr lang="es-ES" b="1" dirty="0"/>
            </a:br>
            <a:endParaRPr lang="es-ES" dirty="0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FB870-3754-406A-996C-3470635CB653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9722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15415" y="764707"/>
            <a:ext cx="3805271" cy="10644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116453" y="764705"/>
            <a:ext cx="6465947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15415" y="1829143"/>
            <a:ext cx="3805271" cy="42970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6B5BA-8835-47F4-BDFB-352D5B7A3137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BB688-D03B-4E1F-A4EC-BD8837457FC3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8631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B3684-0A2F-41E4-BC82-79C23BFD97E3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F4C6D-77CF-4670-AC4C-D628AF3FE307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2565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3A995-8947-4EFC-B7FF-09156B028FA6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D5DB86-B4C5-41ED-A659-13575913090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1736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04A-6649-4047-A8C7-C6FFFF18773F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695733" y="6356353"/>
            <a:ext cx="4896544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ED62F-BB2F-45CD-BD2F-9CF0584394E5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4937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3"/>
          <p:cNvGraphicFramePr>
            <a:graphicFrameLocks noGrp="1"/>
          </p:cNvGraphicFramePr>
          <p:nvPr/>
        </p:nvGraphicFramePr>
        <p:xfrm>
          <a:off x="1" y="15875"/>
          <a:ext cx="12192000" cy="590550"/>
        </p:xfrm>
        <a:graphic>
          <a:graphicData uri="http://schemas.openxmlformats.org/drawingml/2006/table">
            <a:tbl>
              <a:tblPr/>
              <a:tblGrid>
                <a:gridCol w="814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1" i="0" u="none" strike="noStrike" cap="none" normalizeH="0" baseline="0">
                        <a:ln>
                          <a:noFill/>
                        </a:ln>
                        <a:solidFill>
                          <a:srgbClr val="003CF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1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Gerencia de la Ciudad</a:t>
                      </a:r>
                    </a:p>
                    <a:p>
                      <a:pPr marL="71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Dirección General de Organización, Régimen Jurídico y Formación</a:t>
                      </a:r>
                    </a:p>
                    <a:p>
                      <a:pPr marL="71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Escuela de Formación del Ayuntamiento de Madrid</a:t>
                      </a:r>
                      <a:endParaRPr kumimoji="0" lang="es-ES" sz="1000" b="1" i="0" u="none" strike="noStrike" cap="none" normalizeH="0" baseline="0">
                        <a:ln>
                          <a:noFill/>
                        </a:ln>
                        <a:solidFill>
                          <a:srgbClr val="003CF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MADRID</a:t>
                      </a:r>
                      <a:endParaRPr kumimoji="0" lang="es-ES" sz="1000" b="1" i="0" u="none" strike="noStrike" cap="none" normalizeH="0" baseline="0">
                        <a:ln>
                          <a:noFill/>
                        </a:ln>
                        <a:solidFill>
                          <a:srgbClr val="003CF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1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184" y="107950"/>
            <a:ext cx="42333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817035" y="6356353"/>
            <a:ext cx="26373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BFCDF-FCFA-4121-9540-343B67990A4E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s-ES" b="1" dirty="0"/>
          </a:p>
          <a:p>
            <a:pPr>
              <a:defRPr/>
            </a:pPr>
            <a:r>
              <a:rPr lang="es-ES" b="1" dirty="0"/>
              <a:t>R 01-2517-P    GOBIERNO ABIERTO</a:t>
            </a:r>
            <a:br>
              <a:rPr lang="es-ES" b="1" dirty="0"/>
            </a:b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CFFFB870-3754-406A-996C-3470635CB653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79355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3504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902136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09600" y="4484567"/>
            <a:ext cx="51340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97595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41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pPr/>
              <a:t>3/27/2025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7" name="Picture 2" descr="https://www.madrid.es/assets/images/logo-madrid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9147" y="6517773"/>
            <a:ext cx="1410437" cy="288904"/>
          </a:xfrm>
          <a:prstGeom prst="rect">
            <a:avLst/>
          </a:prstGeom>
          <a:solidFill>
            <a:srgbClr val="003DF6"/>
          </a:solidFill>
        </p:spPr>
      </p:pic>
    </p:spTree>
    <p:extLst>
      <p:ext uri="{BB962C8B-B14F-4D97-AF65-F5344CB8AC3E}">
        <p14:creationId xmlns:p14="http://schemas.microsoft.com/office/powerpoint/2010/main" val="4131451089"/>
      </p:ext>
    </p:extLst>
  </p:cSld>
  <p:clrMapOvr>
    <a:masterClrMapping/>
  </p:clrMapOvr>
  <p:transition>
    <p:cut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3/27/2025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816008"/>
      </p:ext>
    </p:extLst>
  </p:cSld>
  <p:clrMapOvr>
    <a:masterClrMapping/>
  </p:clrMapOvr>
  <p:transition>
    <p:cut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white"/>
                </a:solidFill>
              </a:rPr>
              <a:pPr/>
              <a:t>27/03/2025</a:t>
            </a:fld>
            <a:endParaRPr lang="es-ES">
              <a:solidFill>
                <a:prstClr val="white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white"/>
                </a:solidFill>
              </a:rPr>
              <a:pPr/>
              <a:t>‹Nº›</a:t>
            </a:fld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577896"/>
      </p:ext>
    </p:extLst>
  </p:cSld>
  <p:clrMapOvr>
    <a:masterClrMapping/>
  </p:clrMapOvr>
  <p:transition>
    <p:cut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white"/>
                </a:solidFill>
              </a:rPr>
              <a:pPr/>
              <a:t>27/03/2025</a:t>
            </a:fld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white"/>
                </a:solidFill>
              </a:rPr>
              <a:pPr/>
              <a:t>‹Nº›</a:t>
            </a:fld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58447"/>
      </p:ext>
    </p:extLst>
  </p:cSld>
  <p:clrMapOvr>
    <a:masterClrMapping/>
  </p:clrMapOvr>
  <p:transition>
    <p:cut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19830"/>
      </p:ext>
    </p:extLst>
  </p:cSld>
  <p:clrMapOvr>
    <a:masterClrMapping/>
  </p:clrMapOvr>
  <p:transition>
    <p:cut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30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875401"/>
      </p:ext>
    </p:extLst>
  </p:cSld>
  <p:clrMapOvr>
    <a:masterClrMapping/>
  </p:clrMapOvr>
  <p:transition>
    <p:cut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377958"/>
      </p:ext>
    </p:extLst>
  </p:cSld>
  <p:clrMapOvr>
    <a:masterClrMapping/>
  </p:clrMapOvr>
  <p:transition>
    <p:cut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white"/>
                </a:solidFill>
              </a:rPr>
              <a:pPr/>
              <a:t>27/03/2025</a:t>
            </a:fld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white"/>
                </a:solidFill>
              </a:rPr>
              <a:pPr/>
              <a:t>‹Nº›</a:t>
            </a:fld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453097"/>
      </p:ext>
    </p:extLst>
  </p:cSld>
  <p:clrMapOvr>
    <a:masterClrMapping/>
  </p:clrMapOvr>
  <p:transition>
    <p:cut thruBlk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652746"/>
      </p:ext>
    </p:extLst>
  </p:cSld>
  <p:clrMapOvr>
    <a:masterClrMapping/>
  </p:clrMapOvr>
  <p:transition>
    <p:cut thruBlk="1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671492"/>
      </p:ext>
    </p:extLst>
  </p:cSld>
  <p:clrMapOvr>
    <a:masterClrMapping/>
  </p:clrMapOvr>
  <p:transition>
    <p:cut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20191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27083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4434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73897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25150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67420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2349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37226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68458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918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E66DC-A404-4852-834F-B3B06F9F7780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B906B7-F2EA-4F44-B155-471791D3E0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7922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14D85-B1E2-2CD1-D5CC-A4F4932D3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E6ADB-339C-E394-A842-976390710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AB1DB4-C637-A47F-BE25-501DD5E8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AC1065-6707-5309-0FCC-88B3ADC7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096A45-BA6F-B2FC-21C4-33C5CD37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95063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AC4C8-30E2-A300-9BEB-308936A5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4FFB4C-5441-568C-3118-6034CC4A0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1C590D-0D30-B694-CF74-B4A9667C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5B0C8E-29C1-8491-DC06-21C203A6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0964F-0B91-190B-F514-01C8656B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4596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E31A8-12A2-9DCD-2A48-A334C812C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A0753-5B28-108B-1818-C4A249175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C4DFA5-63AD-D132-E28B-D198E67E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149F19-ED72-8B82-7642-2069E7D7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232620-9252-17CA-8D91-36AF1C5C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95132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E4E8C-91F0-B789-0EB0-9730D824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8DADEB-709B-B2CD-E9C6-ECCFDE1B5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7E82CB-0841-707C-4E8C-21C3D6FC2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39AFD8-BFA4-615D-6E8A-1C8C80EF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AFDAEA-728C-495B-A79D-AD9853F5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5D0D93-4E79-181B-45E1-2EA21628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5730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3306F-1DCB-104D-907A-8052CCEF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A0CDA-CB08-EA34-3F1E-D20F5AA24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7083CE-763D-8503-679F-EA90B3DF7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8A2E53-A0EF-55AA-16BA-5B65304D8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983282-D314-8D69-640C-769156F01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0BBC5E-52EF-93A2-F209-921890E7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42883F-F06B-9365-6A6C-756F8C45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D9E62-D993-B80E-C473-95905EFF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6476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D7D2A-4A8C-6CBE-00B1-814F9A8F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DCFFC6-2915-645A-5066-92218919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4834C4-BF97-51E2-37CA-85E6FF0C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62D279-AC7D-3284-513A-740EA795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25586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B80827-3C67-E588-9F55-539D8412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57AD5E-4BF0-3F8E-6542-73BE45CB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DDE660-8546-258D-3CA0-50AF55FB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85258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C0E62-30EA-2B3A-CB4F-EEBB590C5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F0D26-69A2-17DC-3991-87311C7A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AD58BA-EC93-03E5-838C-3FDAE7254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9CF6A-B1B0-79CE-FC90-7DDE9B33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B245-5C8C-BE8B-385C-38EC3F1B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530880-1EB6-D14D-55AE-6CD27844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21279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D91FB-4C7D-6FE9-1FA2-1180901A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E7F60E-AA26-7F5B-F353-DAD03A8B0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97EE98-C614-2C31-F24F-298DAEF32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007932-D6F4-5B19-7134-67317580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5F46E7-7B93-2D6D-A65C-1203A9F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61BD3D-76B4-AABC-2C9F-8E496C49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10367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95488-4049-DDF1-8D53-DB15722E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6B0E9B-40A6-14CA-F797-93B6DDF1A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849CB3-E578-6B8D-1F37-5E3F3DF4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0C45BE-C52B-9067-3040-F18E76A2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6CEAD1-2C1F-537C-C2E9-A29542F2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7191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8089D4-4E31-E333-6260-4804E9EB4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ACCAE5-CE66-E9F8-0AF4-D9A721D3D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FA1ADE-165D-3765-D980-ADBB5A75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FFCF08-4F1B-2097-1761-E90CF585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62FBB2-0700-453A-70AD-E981979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3687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72F61-4B7F-CCDA-C6CD-6577EB157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FCB18B-5551-4891-11FC-F3BD9F6DE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D7EEF9-0B66-50B8-EC8B-5DF7E6BC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E1B0F6-97DC-D612-0D90-A313D4FD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FFAFE-3045-AF61-D080-9A7F377E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32094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9E37A-F86A-767D-FB47-6942E930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DC2F8-7B5E-87CD-6533-AEFD3A581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4B605E-FA29-1CD2-AB44-A8A7D31D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3E5827-854D-F651-E26D-4BCCDD19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3CC50-DAB6-E44A-B353-E391BC2B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3575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C126B-74DF-0633-2C06-6BB4A6AD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72F0BE-214E-7676-30AB-BE0EE7BE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D43377-A617-30F6-38A4-C9616C1C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F6E740-819B-1869-29C0-C000DDAE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EA6002-0CF7-D73B-985F-ACC759D3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43218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12F73-5788-513D-5C34-7EC90627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2FA223-9AD0-EED2-5916-9131C5FE2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CAA799-0581-4CE3-8750-F8B6045B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DA3632-D1F5-44D1-2300-A4E6F1A3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EC0183-2DA0-49AE-1CC3-EB576E96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BE531E-715B-0128-C60F-DF0AFCB2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11180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300AA-3805-3738-1FF5-B079AADF2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6BDA5-FE08-0742-711E-D1410B707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1ADD65-CC70-4FB9-56F9-CE92DB22B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D69DE5-D9D0-C6F9-2CD3-7053C230C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5C3F83-257A-52A2-0651-B2F2C7C79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55C9DA-15F5-239C-D70E-692525E8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F3D147-92C7-D234-7C20-5F2C8FBD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8F502A1-D44F-7803-9CBA-ABDB7416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352059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A91A0-CCD4-C9EC-25CC-907946BD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9CD73B9-A789-675B-4988-7D7F1BF8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459466-C392-88DA-3161-236BFD83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1E5869-CEA3-F421-B962-D6A5FF65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54311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F5D8D5-EEEF-62E2-FB25-F7D1CBB7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585A2F-3704-81C7-78B0-52C363377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AC5652-E9BE-2FC7-F642-C0139440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85157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2AFA6-E076-13A4-5953-C81DD138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A349D-71E6-709E-8C01-0FB2E0294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5D3EFE-069B-0263-5EB8-4C675B12F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5348DB-2A7E-112B-3186-729F8DA5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0DACFE-EA50-1911-9882-282446FA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B385BD-2F28-561F-A6F0-069E1766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244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2CDB0-6C7B-A8AD-12C5-8F15551B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06B855-DD89-4BEF-4DFF-0EF43ED6B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1F6C1F-A044-3C60-3450-649889FD2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54BFDC-E536-A31F-955E-1DA0ED49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3A6033-A474-D5F6-1235-C2B1FD60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3A82C4-390F-01D0-3F53-F22F3B08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78677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24BF2-1ACA-DD85-219B-E871FEF6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D2DEF3-D011-4B55-A92D-2D5E13D55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5228EB-00B3-EF3E-9CAA-0EB91096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983BD5-C472-44F6-E754-F7CC20D8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3E092A-8DB6-9B7A-19DB-A7820B26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84047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923453-A860-EBCB-11C2-ECEE89E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2DDCC7-227E-C0D8-0561-D8496431A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78FF4F-B3DA-7DEA-DB52-6BCCDEFD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87B0AE-4CD0-863D-74DD-F4EC8AC84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ABD1C-A01C-3747-53D1-732ABCD6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583441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bg>
      <p:bgPr>
        <a:gradFill flip="none" rotWithShape="1">
          <a:gsLst>
            <a:gs pos="38000">
              <a:srgbClr val="064D9E"/>
            </a:gs>
            <a:gs pos="55000">
              <a:srgbClr val="064D9E"/>
            </a:gs>
            <a:gs pos="100000">
              <a:srgbClr val="002859"/>
            </a:gs>
            <a:gs pos="0">
              <a:srgbClr val="00285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976872" y="3980828"/>
            <a:ext cx="4427728" cy="338554"/>
          </a:xfrm>
          <a:noFill/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C3E3F7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Presenter(s)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76872" y="2462092"/>
            <a:ext cx="4427728" cy="1477328"/>
          </a:xfrm>
        </p:spPr>
        <p:txBody>
          <a:bodyPr wrap="square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en-US" sz="4800" b="0" i="0" kern="1200" cap="none" baseline="0">
                <a:solidFill>
                  <a:schemeClr val="tx1"/>
                </a:solidFill>
                <a:effectLst/>
                <a:latin typeface="+mj-lt"/>
                <a:ea typeface="+mj-ea"/>
                <a:cs typeface="Arial"/>
              </a:defRPr>
            </a:lvl1pPr>
          </a:lstStyle>
          <a:p>
            <a:r>
              <a:rPr kumimoji="0" lang="en-US" dirty="0"/>
              <a:t>Click to Edit Demo Title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7F20F-8413-1548-BF61-558511100DB7}" type="datetime1">
              <a:rPr lang="en-US" smtClean="0"/>
              <a:t>3/27/2025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A4DFB064-9EBB-CE43-A484-6B2123001EC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84213" y="1757363"/>
            <a:ext cx="5943600" cy="3343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296610598"/>
      </p:ext>
    </p:extLst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33121" y="2428193"/>
            <a:ext cx="8525773" cy="914400"/>
          </a:xfrm>
        </p:spPr>
        <p:txBody>
          <a:bodyPr rIns="0" anchor="b">
            <a:noAutofit/>
          </a:bodyPr>
          <a:lstStyle>
            <a:lvl1pPr algn="ctr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28801" y="3465218"/>
            <a:ext cx="8534401" cy="914400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b="0">
                <a:solidFill>
                  <a:srgbClr val="C3E3F7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91B51-25EE-0147-9293-37E16A70024E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9" name="Esri logo with tagline" descr="Esri logo with The Science of Where tagline">
            <a:extLst>
              <a:ext uri="{FF2B5EF4-FFF2-40B4-BE49-F238E27FC236}">
                <a16:creationId xmlns:a16="http://schemas.microsoft.com/office/drawing/2014/main" id="{BAE1F197-8276-8D41-95D6-51EDCC8506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2736" y="395608"/>
            <a:ext cx="2392198" cy="73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09069"/>
      </p:ext>
    </p:extLst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6166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914400" y="2057400"/>
            <a:ext cx="10369296" cy="342900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EFD86-78C4-084A-B0B5-04A7A3431B39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06632"/>
      </p:ext>
    </p:extLst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61665"/>
          </a:xfrm>
        </p:spPr>
        <p:txBody>
          <a:bodyPr/>
          <a:lstStyle>
            <a:lvl1pPr>
              <a:defRPr lang="en-US" sz="3000" b="0" kern="1200" spc="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399032"/>
            <a:ext cx="10369296" cy="276999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C3E3F7"/>
                </a:solidFill>
              </a:defRPr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 dirty="0"/>
              <a:t>Click to Edit Subtitle (optional)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914400" y="2057400"/>
            <a:ext cx="10369296" cy="342741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F95B-0B80-6A4D-A813-6F9D9F38EBA2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69603"/>
      </p:ext>
    </p:extLst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Tag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57200"/>
          </a:xfr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defRPr lang="en-US" b="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400" y="2057400"/>
            <a:ext cx="10369296" cy="3429000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defRPr sz="1400"/>
            </a:lvl4pPr>
            <a:lvl5pPr>
              <a:lnSpc>
                <a:spcPts val="1800"/>
              </a:lnSpc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177085"/>
            <a:ext cx="10599358" cy="215444"/>
          </a:xfrm>
        </p:spPr>
        <p:txBody>
          <a:bodyPr wrap="square" anchor="b">
            <a:sp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</a:schemeClr>
              </a:buClr>
              <a:buSzPts val="1100"/>
              <a:buFont typeface="Arial"/>
              <a:buNone/>
              <a:tabLst/>
              <a:defRPr lang="en-US" sz="1400" b="0" i="1" kern="1200" baseline="0" dirty="0" smtClean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/>
              <a:t>Click to Edit Tagline (optional)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55AC9-5819-304B-AB8A-EC561A98EE59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69455"/>
      </p:ext>
    </p:extLst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Tag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9296" cy="4572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Content Placeholder 21"/>
          <p:cNvSpPr>
            <a:spLocks noGrp="1"/>
          </p:cNvSpPr>
          <p:nvPr>
            <p:ph sz="quarter" idx="18" hasCustomPrompt="1"/>
          </p:nvPr>
        </p:nvSpPr>
        <p:spPr>
          <a:xfrm>
            <a:off x="914400" y="2057400"/>
            <a:ext cx="10369296" cy="342900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6409" y="1514615"/>
            <a:ext cx="1219201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endParaRPr lang="en-US" sz="1400" b="1"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1399031"/>
            <a:ext cx="10369296" cy="276999"/>
          </a:xfrm>
        </p:spPr>
        <p:txBody>
          <a:bodyPr vert="horz" wrap="square" lIns="0" tIns="0" rIns="0" bIns="0" rtlCol="0" anchor="t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800" b="0" kern="1200" dirty="0" smtClean="0">
                <a:solidFill>
                  <a:srgbClr val="C3E3F7"/>
                </a:solidFill>
                <a:latin typeface="+mj-lt"/>
                <a:ea typeface="+mj-ea"/>
                <a:cs typeface="Arial"/>
              </a:defRPr>
            </a:lvl1pPr>
            <a:lvl2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2pPr>
            <a:lvl3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3pPr>
            <a:lvl4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4pPr>
            <a:lvl5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5pPr>
          </a:lstStyle>
          <a:p>
            <a:pPr lvl="0"/>
            <a:r>
              <a:rPr lang="en-US" dirty="0"/>
              <a:t>Click to Edit Subtitle (optional)</a:t>
            </a:r>
          </a:p>
        </p:txBody>
      </p:sp>
      <p:sp>
        <p:nvSpPr>
          <p:cNvPr id="12" name="Text Placehold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6185356"/>
            <a:ext cx="10597896" cy="215444"/>
          </a:xfrm>
        </p:spPr>
        <p:txBody>
          <a:bodyPr wrap="square" anchor="b">
            <a:sp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400" b="0" i="1" baseline="0">
                <a:solidFill>
                  <a:schemeClr val="tx2"/>
                </a:solidFill>
              </a:defRPr>
            </a:lvl1pPr>
            <a:lvl2pPr marL="0" indent="0" algn="r">
              <a:buNone/>
              <a:defRPr sz="1600"/>
            </a:lvl2pPr>
            <a:lvl3pPr marL="0" indent="0" algn="r">
              <a:buNone/>
              <a:defRPr sz="1600"/>
            </a:lvl3pPr>
            <a:lvl4pPr marL="0" indent="0" algn="r">
              <a:buNone/>
              <a:defRPr sz="1600"/>
            </a:lvl4pPr>
            <a:lvl5pPr marL="0" indent="0" algn="r">
              <a:buNone/>
              <a:defRPr sz="1600"/>
            </a:lvl5pPr>
          </a:lstStyle>
          <a:p>
            <a:pPr lvl="0"/>
            <a:r>
              <a:rPr lang="en-US"/>
              <a:t>Click to Edit Tagline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6409" y="1514615"/>
            <a:ext cx="1219201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endParaRPr lang="en-US" sz="1400" b="1">
              <a:ea typeface="+mn-ea"/>
              <a:cs typeface="+mn-cs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4F111-1245-FB4C-ACB7-129F68E66232}" type="datetime1">
              <a:rPr lang="en-US" smtClean="0"/>
              <a:t>3/27/2025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9458"/>
      </p:ext>
    </p:extLst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75000">
              <a:srgbClr val="0C4799"/>
            </a:gs>
            <a:gs pos="10000">
              <a:srgbClr val="008BDD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C21C6-642C-6F4C-B53C-06F3F35CEF14}" type="datetime1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07064"/>
      </p:ext>
    </p:extLst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without Graphic (center justifi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3BE2-FFFE-0B46-AE5A-CBB4C5FEC6FC}" type="datetime1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14404"/>
      </p:ext>
    </p:extLst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1994C-B8B3-A740-949B-C8D716F26A7F}" type="datetime1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71806"/>
      </p:ext>
    </p:extLst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gradFill flip="none" rotWithShape="1">
          <a:gsLst>
            <a:gs pos="55000">
              <a:srgbClr val="064D9E"/>
            </a:gs>
            <a:gs pos="38000">
              <a:srgbClr val="064D9E"/>
            </a:gs>
            <a:gs pos="100000">
              <a:srgbClr val="002859"/>
            </a:gs>
            <a:gs pos="0">
              <a:srgbClr val="00285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1" y="3512743"/>
            <a:ext cx="8683722" cy="338554"/>
          </a:xfrm>
          <a:noFill/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C3E3F7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Presenter(s)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732670"/>
            <a:ext cx="8683723" cy="738664"/>
          </a:xfrm>
        </p:spPr>
        <p:txBody>
          <a:bodyPr wrap="square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en-US" sz="4800" b="0" i="0" kern="1200" cap="none" baseline="0">
                <a:solidFill>
                  <a:schemeClr val="tx1"/>
                </a:solidFill>
                <a:effectLst/>
                <a:latin typeface="+mj-lt"/>
                <a:ea typeface="+mj-ea"/>
                <a:cs typeface="Arial"/>
              </a:defRPr>
            </a:lvl1pPr>
          </a:lstStyle>
          <a:p>
            <a:r>
              <a:rPr kumimoji="0" lang="en-US" dirty="0"/>
              <a:t>Click to Edit Section Title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7F20F-8413-1548-BF61-558511100DB7}" type="datetime1">
              <a:rPr lang="en-US" smtClean="0"/>
              <a:t>3/27/2025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7121"/>
      </p:ext>
    </p:extLst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 flip="none" rotWithShape="1">
          <a:gsLst>
            <a:gs pos="38000">
              <a:srgbClr val="064D9E"/>
            </a:gs>
            <a:gs pos="55000">
              <a:srgbClr val="064D9E"/>
            </a:gs>
            <a:gs pos="100000">
              <a:srgbClr val="002859"/>
            </a:gs>
            <a:gs pos="0">
              <a:srgbClr val="00285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976872" y="3980828"/>
            <a:ext cx="4427728" cy="338554"/>
          </a:xfrm>
          <a:noFill/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C3E3F7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Presenter(s)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76872" y="2462092"/>
            <a:ext cx="4427728" cy="1477328"/>
          </a:xfrm>
        </p:spPr>
        <p:txBody>
          <a:bodyPr wrap="square" anchor="b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en-US" sz="4800" b="0" i="0" kern="1200" cap="none" baseline="0">
                <a:solidFill>
                  <a:schemeClr val="tx1"/>
                </a:solidFill>
                <a:effectLst/>
                <a:latin typeface="+mj-lt"/>
                <a:ea typeface="+mj-ea"/>
                <a:cs typeface="Arial"/>
              </a:defRPr>
            </a:lvl1pPr>
          </a:lstStyle>
          <a:p>
            <a:r>
              <a:rPr kumimoji="0" lang="en-US" dirty="0"/>
              <a:t>Click to Edit Demo Title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7F20F-8413-1548-BF61-558511100DB7}" type="datetime1">
              <a:rPr lang="en-US" smtClean="0"/>
              <a:t>3/27/2025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A4DFB064-9EBB-CE43-A484-6B2123001EC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84213" y="1757363"/>
            <a:ext cx="5943600" cy="3343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811987035"/>
      </p:ext>
    </p:extLst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304" y="1990427"/>
            <a:ext cx="10367433" cy="1477328"/>
          </a:xfrm>
        </p:spPr>
        <p:txBody>
          <a:bodyPr anchor="b"/>
          <a:lstStyle>
            <a:lvl1pPr>
              <a:spcAft>
                <a:spcPts val="0"/>
              </a:spcAft>
              <a:defRPr sz="9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BIG Word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12304" y="3467761"/>
            <a:ext cx="10367433" cy="615553"/>
          </a:xfr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FontTx/>
              <a:buNone/>
              <a:defRPr lang="en-US" sz="4000" b="0" baseline="0" smtClean="0">
                <a:solidFill>
                  <a:srgbClr val="C3E3F7"/>
                </a:solidFill>
                <a:latin typeface="+mj-lt"/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Smaller word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7C214-390A-F944-BF27-73F37F4360F9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11174"/>
      </p:ext>
    </p:extLst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284" y="2625441"/>
            <a:ext cx="7315200" cy="461665"/>
          </a:xfrm>
        </p:spPr>
        <p:txBody>
          <a:bodyPr anchor="b"/>
          <a:lstStyle>
            <a:lvl1pPr>
              <a:spcAft>
                <a:spcPts val="0"/>
              </a:spcAft>
              <a:defRPr sz="30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“Quote”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4" y="3683197"/>
            <a:ext cx="7315200" cy="400110"/>
          </a:xfr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 algn="r">
              <a:spcAft>
                <a:spcPts val="0"/>
              </a:spcAft>
              <a:buFontTx/>
              <a:buNone/>
              <a:defRPr lang="en-US" sz="2600" b="0" baseline="0" smtClean="0">
                <a:solidFill>
                  <a:srgbClr val="C3E3F7"/>
                </a:solidFill>
                <a:latin typeface="+mj-lt"/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 dirty="0"/>
              <a:t>Name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25C2B-15EC-3348-B6CD-75D75F51F610}" type="datetime1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2886"/>
      </p:ext>
    </p:extLst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sri">
    <p:bg>
      <p:bgPr>
        <a:gradFill flip="none" rotWithShape="1">
          <a:gsLst>
            <a:gs pos="0">
              <a:srgbClr val="002859"/>
            </a:gs>
            <a:gs pos="100000">
              <a:srgbClr val="002859"/>
            </a:gs>
            <a:gs pos="55000">
              <a:srgbClr val="064D9E"/>
            </a:gs>
            <a:gs pos="38000">
              <a:srgbClr val="064D9E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ri logo with tagline" descr="large Esri logo with The Science of Where tagline">
            <a:extLst>
              <a:ext uri="{FF2B5EF4-FFF2-40B4-BE49-F238E27FC236}">
                <a16:creationId xmlns:a16="http://schemas.microsoft.com/office/drawing/2014/main" id="{9496024E-64D0-4946-9D72-1637B8F52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9008" y="2489995"/>
            <a:ext cx="6073984" cy="18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66204"/>
      </p:ext>
    </p:extLst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>
                <a:solidFill>
                  <a:prstClr val="black"/>
                </a:solidFill>
              </a:rPr>
              <a:pPr/>
              <a:t>3/27/2025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89805822"/>
      </p:ext>
    </p:extLst>
  </p:cSld>
  <p:clrMapOvr>
    <a:masterClrMapping/>
  </p:clrMapOvr>
  <p:transition advTm="5000">
    <p:cut thruBlk="1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5468" y="2130430"/>
            <a:ext cx="9982133" cy="1470025"/>
          </a:xfrm>
        </p:spPr>
        <p:txBody>
          <a:bodyPr/>
          <a:lstStyle>
            <a:lvl1pPr>
              <a:defRPr>
                <a:solidFill>
                  <a:srgbClr val="003CF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351584" y="3886200"/>
            <a:ext cx="801161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1497B6-99FD-4307-92AE-29AC7F5F5751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s-ES" b="1" dirty="0"/>
          </a:p>
          <a:p>
            <a:pPr>
              <a:defRPr/>
            </a:pPr>
            <a:r>
              <a:rPr lang="es-ES" b="1" dirty="0"/>
              <a:t>R 01-2517-P    GOBIERNO ABIERTO</a:t>
            </a:r>
            <a:br>
              <a:rPr lang="es-ES" b="1" dirty="0"/>
            </a:b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984542-9684-4A45-BAB0-0CDE5956AF5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901179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FFB0-20AD-44E9-B2A5-B3219E3F0139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ADBB08-342E-4679-817A-4A8FF17D612E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800392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3D3E9-69B3-4136-AC18-09E9C8183D33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72BE0-DF9C-4BDB-84B8-578373D18847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028177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796032" y="1916837"/>
            <a:ext cx="5198368" cy="420933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384032" y="1916837"/>
            <a:ext cx="5198368" cy="420933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50417-EE4D-453E-AC9B-55FDC8F62E39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6D02B-5C24-4B40-93E8-3688DCA8982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327389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15413" y="1925142"/>
            <a:ext cx="5181104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815413" y="2636916"/>
            <a:ext cx="5181104" cy="348925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399261" y="1925142"/>
            <a:ext cx="5183139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399261" y="2636916"/>
            <a:ext cx="5183139" cy="348925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69613-7600-4E42-8046-93B9EF5162C0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B9987-9E53-4A55-A70D-2882F9E462B6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660656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AA4B4-647D-464D-B697-AF45FD69FD02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s-ES" b="1" dirty="0"/>
          </a:p>
          <a:p>
            <a:pPr>
              <a:defRPr/>
            </a:pPr>
            <a:r>
              <a:rPr lang="es-ES" b="1" dirty="0"/>
              <a:t>R 01-2517-P    GOBIERNO ABIERTO</a:t>
            </a:r>
            <a:br>
              <a:rPr lang="es-ES" b="1" dirty="0"/>
            </a:b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574BF-1B8B-41B7-8727-8F200C1FFAD8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360385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BFCDF-FCFA-4121-9540-343B67990A4E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s-ES" b="1" dirty="0"/>
          </a:p>
          <a:p>
            <a:pPr>
              <a:defRPr/>
            </a:pPr>
            <a:r>
              <a:rPr lang="es-ES" b="1" dirty="0"/>
              <a:t>R 01-2517-P    GOBIERNO ABIERTO</a:t>
            </a:r>
            <a:br>
              <a:rPr lang="es-ES" b="1" dirty="0"/>
            </a:br>
            <a:endParaRPr lang="es-ES" dirty="0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FB870-3754-406A-996C-3470635CB653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902040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15417" y="764709"/>
            <a:ext cx="3805271" cy="10644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116453" y="764705"/>
            <a:ext cx="6465947" cy="536145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15417" y="1829143"/>
            <a:ext cx="3805271" cy="429702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6B5BA-8835-47F4-BDFB-352D5B7A3137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BB688-D03B-4E1F-A4EC-BD8837457FC3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088121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s-ES" noProof="0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B3684-0A2F-41E4-BC82-79C23BFD97E3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F4C6D-77CF-4670-AC4C-D628AF3FE307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088966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3A995-8947-4EFC-B7FF-09156B028FA6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D5DB86-B4C5-41ED-A659-13575913090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731207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04A-6649-4047-A8C7-C6FFFF18773F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 R 01-2517-P    GOBIERNO ABIERTO 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ED62F-BB2F-45CD-BD2F-9CF0584394E5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386686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3"/>
          <p:cNvGraphicFramePr>
            <a:graphicFrameLocks noGrp="1"/>
          </p:cNvGraphicFramePr>
          <p:nvPr/>
        </p:nvGraphicFramePr>
        <p:xfrm>
          <a:off x="3" y="15875"/>
          <a:ext cx="12192000" cy="590550"/>
        </p:xfrm>
        <a:graphic>
          <a:graphicData uri="http://schemas.openxmlformats.org/drawingml/2006/table">
            <a:tbl>
              <a:tblPr/>
              <a:tblGrid>
                <a:gridCol w="814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1" i="0" u="none" strike="noStrike" cap="none" normalizeH="0" baseline="0">
                        <a:ln>
                          <a:noFill/>
                        </a:ln>
                        <a:solidFill>
                          <a:srgbClr val="003CF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1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Gerencia de la Ciudad</a:t>
                      </a:r>
                    </a:p>
                    <a:p>
                      <a:pPr marL="71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Dirección General de Organización, Régimen Jurídico y Formación</a:t>
                      </a:r>
                    </a:p>
                    <a:p>
                      <a:pPr marL="7143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Escuela de Formación del Ayuntamiento de Madrid</a:t>
                      </a:r>
                      <a:endParaRPr kumimoji="0" lang="es-ES" sz="1000" b="1" i="0" u="none" strike="noStrike" cap="none" normalizeH="0" baseline="0">
                        <a:ln>
                          <a:noFill/>
                        </a:ln>
                        <a:solidFill>
                          <a:srgbClr val="003CF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3CF6"/>
                          </a:solidFill>
                          <a:effectLst/>
                          <a:latin typeface="Calibri" pitchFamily="34" charset="0"/>
                        </a:rPr>
                        <a:t>MADRID</a:t>
                      </a:r>
                      <a:endParaRPr kumimoji="0" lang="es-ES" sz="1000" b="1" i="0" u="none" strike="noStrike" cap="none" normalizeH="0" baseline="0">
                        <a:ln>
                          <a:noFill/>
                        </a:ln>
                        <a:solidFill>
                          <a:srgbClr val="003CF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rgbClr val="003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1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184" y="107950"/>
            <a:ext cx="42333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817037" y="6356355"/>
            <a:ext cx="26373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BFCDF-FCFA-4121-9540-343B67990A4E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s-ES" b="1" dirty="0"/>
          </a:p>
          <a:p>
            <a:pPr>
              <a:defRPr/>
            </a:pPr>
            <a:r>
              <a:rPr lang="es-ES" b="1" dirty="0"/>
              <a:t>R 01-2517-P    GOBIERNO ABIERTO</a:t>
            </a:r>
            <a:br>
              <a:rPr lang="es-ES" b="1" dirty="0"/>
            </a:b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CFFFB870-3754-406A-996C-3470635CB653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744074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n"/>
          <p:cNvSpPr>
            <a:spLocks noGrp="1"/>
          </p:cNvSpPr>
          <p:nvPr>
            <p:ph type="pic" idx="13"/>
          </p:nvPr>
        </p:nvSpPr>
        <p:spPr>
          <a:xfrm>
            <a:off x="1562986" y="336550"/>
            <a:ext cx="9067801" cy="4368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 lvl="0"/>
            <a:endParaRPr noProof="0">
              <a:sym typeface="Helvetica Neue"/>
            </a:endParaRPr>
          </a:p>
        </p:txBody>
      </p:sp>
      <p:sp>
        <p:nvSpPr>
          <p:cNvPr id="21" name="Texto del título"/>
          <p:cNvSpPr txBox="1">
            <a:spLocks noGrp="1"/>
          </p:cNvSpPr>
          <p:nvPr>
            <p:ph type="title"/>
          </p:nvPr>
        </p:nvSpPr>
        <p:spPr>
          <a:xfrm>
            <a:off x="317500" y="4756150"/>
            <a:ext cx="11557000" cy="1003300"/>
          </a:xfrm>
          <a:prstGeom prst="rect">
            <a:avLst/>
          </a:prstGeom>
        </p:spPr>
        <p:txBody>
          <a:bodyPr anchor="b"/>
          <a:lstStyle/>
          <a:p>
            <a:r>
              <a:t>Texto del título</a:t>
            </a:r>
          </a:p>
        </p:txBody>
      </p:sp>
      <p:sp>
        <p:nvSpPr>
          <p:cNvPr id="2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317500" y="5721350"/>
            <a:ext cx="11557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025"/>
            </a:lvl1pPr>
            <a:lvl2pPr marL="0" indent="85725" algn="ctr">
              <a:spcBef>
                <a:spcPts val="0"/>
              </a:spcBef>
              <a:buSzTx/>
              <a:buNone/>
              <a:defRPr sz="2025"/>
            </a:lvl2pPr>
            <a:lvl3pPr marL="0" indent="171450" algn="ctr">
              <a:spcBef>
                <a:spcPts val="0"/>
              </a:spcBef>
              <a:buSzTx/>
              <a:buNone/>
              <a:defRPr sz="2025"/>
            </a:lvl3pPr>
            <a:lvl4pPr marL="0" indent="257175" algn="ctr">
              <a:spcBef>
                <a:spcPts val="0"/>
              </a:spcBef>
              <a:buSzTx/>
              <a:buNone/>
              <a:defRPr sz="2025"/>
            </a:lvl4pPr>
            <a:lvl5pPr marL="0" indent="342900" algn="ctr">
              <a:spcBef>
                <a:spcPts val="0"/>
              </a:spcBef>
              <a:buSzTx/>
              <a:buNone/>
              <a:defRPr sz="2025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" name="Número de diapositiva"/>
          <p:cNvSpPr txBox="1"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18C0C-C39D-412F-9021-123226F044EF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23055293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bright)">
  <p:cSld name="Blank (bright)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/>
        </p:nvSpPr>
        <p:spPr>
          <a:xfrm>
            <a:off x="133" y="-7733"/>
            <a:ext cx="12192000" cy="68660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2" name="Google Shape;92;p13"/>
          <p:cNvSpPr/>
          <p:nvPr/>
        </p:nvSpPr>
        <p:spPr>
          <a:xfrm>
            <a:off x="0" y="-7900"/>
            <a:ext cx="12192000" cy="6866000"/>
          </a:xfrm>
          <a:prstGeom prst="frame">
            <a:avLst>
              <a:gd name="adj1" fmla="val 5041"/>
            </a:avLst>
          </a:prstGeom>
          <a:solidFill>
            <a:srgbClr val="2946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3" name="Google Shape;93;p13"/>
          <p:cNvSpPr/>
          <p:nvPr/>
        </p:nvSpPr>
        <p:spPr>
          <a:xfrm>
            <a:off x="5738200" y="6142667"/>
            <a:ext cx="715600" cy="71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5738100" y="6142333"/>
            <a:ext cx="715600" cy="7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294667"/>
                </a:solidFill>
              </a:defRPr>
            </a:lvl1pPr>
            <a:lvl2pPr lvl="1" algn="ctr" rtl="0">
              <a:buNone/>
              <a:defRPr>
                <a:solidFill>
                  <a:srgbClr val="294667"/>
                </a:solidFill>
              </a:defRPr>
            </a:lvl2pPr>
            <a:lvl3pPr lvl="2" algn="ctr" rtl="0">
              <a:buNone/>
              <a:defRPr>
                <a:solidFill>
                  <a:srgbClr val="294667"/>
                </a:solidFill>
              </a:defRPr>
            </a:lvl3pPr>
            <a:lvl4pPr lvl="3" algn="ctr" rtl="0">
              <a:buNone/>
              <a:defRPr>
                <a:solidFill>
                  <a:srgbClr val="294667"/>
                </a:solidFill>
              </a:defRPr>
            </a:lvl4pPr>
            <a:lvl5pPr lvl="4" algn="ctr" rtl="0">
              <a:buNone/>
              <a:defRPr>
                <a:solidFill>
                  <a:srgbClr val="294667"/>
                </a:solidFill>
              </a:defRPr>
            </a:lvl5pPr>
            <a:lvl6pPr lvl="5" algn="ctr" rtl="0">
              <a:buNone/>
              <a:defRPr>
                <a:solidFill>
                  <a:srgbClr val="294667"/>
                </a:solidFill>
              </a:defRPr>
            </a:lvl6pPr>
            <a:lvl7pPr lvl="6" algn="ctr" rtl="0">
              <a:buNone/>
              <a:defRPr>
                <a:solidFill>
                  <a:srgbClr val="294667"/>
                </a:solidFill>
              </a:defRPr>
            </a:lvl7pPr>
            <a:lvl8pPr lvl="7" algn="ctr" rtl="0">
              <a:buNone/>
              <a:defRPr>
                <a:solidFill>
                  <a:srgbClr val="294667"/>
                </a:solidFill>
              </a:defRPr>
            </a:lvl8pPr>
            <a:lvl9pPr lvl="8" algn="ctr" rtl="0">
              <a:buNone/>
              <a:defRPr>
                <a:solidFill>
                  <a:srgbClr val="294667"/>
                </a:solidFill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72038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 txBox="1">
            <a:spLocks/>
          </p:cNvSpPr>
          <p:nvPr userDrawn="1"/>
        </p:nvSpPr>
        <p:spPr>
          <a:xfrm>
            <a:off x="-79131" y="4400062"/>
            <a:ext cx="1191734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 baseline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s-ES" sz="2000" baseline="0" dirty="0"/>
              <a:t>					</a:t>
            </a:r>
            <a:r>
              <a:rPr lang="es-ES" sz="1600" dirty="0"/>
              <a:t>24/3/2021</a:t>
            </a:r>
          </a:p>
        </p:txBody>
      </p:sp>
    </p:spTree>
    <p:extLst>
      <p:ext uri="{BB962C8B-B14F-4D97-AF65-F5344CB8AC3E}">
        <p14:creationId xmlns:p14="http://schemas.microsoft.com/office/powerpoint/2010/main" val="97162142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0" y="6355476"/>
            <a:ext cx="13716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 dirty="0"/>
              <a:t>24/3/2021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477108" y="6356350"/>
            <a:ext cx="8762162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16792" y="6355476"/>
            <a:ext cx="1654628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5057B8D-FFE3-4BD7-9832-6D199649B21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10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334475" y="964972"/>
            <a:ext cx="11736945" cy="4973934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b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s-ES" dirty="0"/>
              <a:t>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0" y="2310"/>
            <a:ext cx="12192000" cy="549275"/>
          </a:xfrm>
          <a:prstGeom prst="rect">
            <a:avLst/>
          </a:prstGeom>
          <a:solidFill>
            <a:srgbClr val="003DF6">
              <a:alpha val="89804"/>
            </a:srgbClr>
          </a:solidFill>
          <a:ln w="9525">
            <a:noFill/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s-ES" altLang="es-ES" sz="1800">
              <a:latin typeface="Lato" panose="020F0502020204030203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94" y="108952"/>
            <a:ext cx="2095673" cy="335991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148555EB-600C-49E0-AD51-3F8F261644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248" y="73281"/>
            <a:ext cx="1875858" cy="40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30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64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adroTexto 18"/>
          <p:cNvSpPr/>
          <p:nvPr/>
        </p:nvSpPr>
        <p:spPr>
          <a:xfrm>
            <a:off x="0" y="6356350"/>
            <a:ext cx="12192001" cy="540002"/>
          </a:xfrm>
          <a:prstGeom prst="rect">
            <a:avLst/>
          </a:prstGeom>
          <a:solidFill>
            <a:srgbClr val="014A9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/>
          </a:p>
        </p:txBody>
      </p:sp>
      <p:grpSp>
        <p:nvGrpSpPr>
          <p:cNvPr id="144" name="Grupo 28"/>
          <p:cNvGrpSpPr/>
          <p:nvPr/>
        </p:nvGrpSpPr>
        <p:grpSpPr>
          <a:xfrm>
            <a:off x="0" y="-6669"/>
            <a:ext cx="12192000" cy="540001"/>
            <a:chOff x="0" y="0"/>
            <a:chExt cx="12192000" cy="540000"/>
          </a:xfrm>
        </p:grpSpPr>
        <p:sp>
          <p:nvSpPr>
            <p:cNvPr id="136" name="CuadroTexto 29"/>
            <p:cNvSpPr/>
            <p:nvPr/>
          </p:nvSpPr>
          <p:spPr>
            <a:xfrm>
              <a:off x="0" y="0"/>
              <a:ext cx="12192000" cy="540000"/>
            </a:xfrm>
            <a:prstGeom prst="rect">
              <a:avLst/>
            </a:prstGeom>
            <a:solidFill>
              <a:srgbClr val="014A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40" name="Grupo 30"/>
            <p:cNvGrpSpPr/>
            <p:nvPr/>
          </p:nvGrpSpPr>
          <p:grpSpPr>
            <a:xfrm>
              <a:off x="10200456" y="39167"/>
              <a:ext cx="1944216" cy="459742"/>
              <a:chOff x="0" y="0"/>
              <a:chExt cx="1944215" cy="459740"/>
            </a:xfrm>
          </p:grpSpPr>
          <p:pic>
            <p:nvPicPr>
              <p:cNvPr id="137" name="Imagen 34" descr="Imagen 3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50831"/>
                <a:ext cx="260135" cy="3600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38" name="Conector recto 35"/>
              <p:cNvSpPr/>
              <p:nvPr/>
            </p:nvSpPr>
            <p:spPr>
              <a:xfrm flipH="1">
                <a:off x="432047" y="32831"/>
                <a:ext cx="1" cy="396001"/>
              </a:xfrm>
              <a:prstGeom prst="line">
                <a:avLst/>
              </a:prstGeom>
              <a:noFill/>
              <a:ln w="15875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39" name="CuadroTexto 36"/>
              <p:cNvSpPr txBox="1"/>
              <p:nvPr/>
            </p:nvSpPr>
            <p:spPr>
              <a:xfrm>
                <a:off x="504054" y="0"/>
                <a:ext cx="1440162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400">
                    <a:solidFill>
                      <a:srgbClr val="FFFFFF"/>
                    </a:solidFill>
                    <a:latin typeface="Lato Regular"/>
                    <a:ea typeface="Lato Regular"/>
                    <a:cs typeface="Lato Regular"/>
                    <a:sym typeface="Lato Regular"/>
                  </a:defRPr>
                </a:lvl1pPr>
              </a:lstStyle>
              <a:p>
                <a:r>
                  <a:t>MADRID</a:t>
                </a:r>
              </a:p>
            </p:txBody>
          </p:sp>
        </p:grpSp>
      </p:grpSp>
      <p:sp>
        <p:nvSpPr>
          <p:cNvPr id="145" name="CuadroTexto 37"/>
          <p:cNvSpPr txBox="1"/>
          <p:nvPr/>
        </p:nvSpPr>
        <p:spPr>
          <a:xfrm>
            <a:off x="10137631" y="6390237"/>
            <a:ext cx="205436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es-ES" sz="2400" dirty="0"/>
              <a:t>24 Marzo 2021</a:t>
            </a:r>
            <a:endParaRPr sz="2400" dirty="0"/>
          </a:p>
        </p:txBody>
      </p:sp>
      <p:sp>
        <p:nvSpPr>
          <p:cNvPr id="14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35866" cy="370840"/>
          </a:xfrm>
          <a:prstGeom prst="rect">
            <a:avLst/>
          </a:prstGeom>
        </p:spPr>
        <p:txBody>
          <a:bodyPr anchor="t"/>
          <a:lstStyle>
            <a:lvl1pPr algn="l">
              <a:defRPr sz="18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0765689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14400" y="2619123"/>
            <a:ext cx="1036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914400" y="4193137"/>
            <a:ext cx="103632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5730200" y="6443967"/>
            <a:ext cx="731600" cy="4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ctr"/>
            <a:fld id="{00000000-1234-1234-1234-123412341234}" type="slidenum">
              <a:rPr lang="en">
                <a:solidFill>
                  <a:prstClr val="black">
                    <a:tint val="75000"/>
                  </a:prstClr>
                </a:solidFill>
              </a:rPr>
              <a:pPr algn="ctr"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94699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n"/>
          <p:cNvSpPr>
            <a:spLocks noGrp="1"/>
          </p:cNvSpPr>
          <p:nvPr>
            <p:ph type="pic" idx="13"/>
          </p:nvPr>
        </p:nvSpPr>
        <p:spPr>
          <a:xfrm>
            <a:off x="1562986" y="336550"/>
            <a:ext cx="9067801" cy="4368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 lvl="0"/>
            <a:endParaRPr noProof="0">
              <a:sym typeface="Helvetica Neue"/>
            </a:endParaRPr>
          </a:p>
        </p:txBody>
      </p:sp>
      <p:sp>
        <p:nvSpPr>
          <p:cNvPr id="21" name="Texto del título"/>
          <p:cNvSpPr txBox="1">
            <a:spLocks noGrp="1"/>
          </p:cNvSpPr>
          <p:nvPr>
            <p:ph type="title"/>
          </p:nvPr>
        </p:nvSpPr>
        <p:spPr>
          <a:xfrm>
            <a:off x="317500" y="4756150"/>
            <a:ext cx="11557000" cy="1003300"/>
          </a:xfrm>
          <a:prstGeom prst="rect">
            <a:avLst/>
          </a:prstGeom>
        </p:spPr>
        <p:txBody>
          <a:bodyPr anchor="b"/>
          <a:lstStyle/>
          <a:p>
            <a:r>
              <a:t>Texto del título</a:t>
            </a:r>
          </a:p>
        </p:txBody>
      </p:sp>
      <p:sp>
        <p:nvSpPr>
          <p:cNvPr id="2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317500" y="5721350"/>
            <a:ext cx="11557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025"/>
            </a:lvl1pPr>
            <a:lvl2pPr marL="0" indent="85725" algn="ctr">
              <a:spcBef>
                <a:spcPts val="0"/>
              </a:spcBef>
              <a:buSzTx/>
              <a:buNone/>
              <a:defRPr sz="2025"/>
            </a:lvl2pPr>
            <a:lvl3pPr marL="0" indent="171450" algn="ctr">
              <a:spcBef>
                <a:spcPts val="0"/>
              </a:spcBef>
              <a:buSzTx/>
              <a:buNone/>
              <a:defRPr sz="2025"/>
            </a:lvl3pPr>
            <a:lvl4pPr marL="0" indent="257175" algn="ctr">
              <a:spcBef>
                <a:spcPts val="0"/>
              </a:spcBef>
              <a:buSzTx/>
              <a:buNone/>
              <a:defRPr sz="2025"/>
            </a:lvl4pPr>
            <a:lvl5pPr marL="0" indent="342900" algn="ctr">
              <a:spcBef>
                <a:spcPts val="0"/>
              </a:spcBef>
              <a:buSzTx/>
              <a:buNone/>
              <a:defRPr sz="2025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" name="Número de diapositiva"/>
          <p:cNvSpPr txBox="1"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18C0C-C39D-412F-9021-123226F044EF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50197360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242404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52068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804992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461347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98572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99054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205340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371812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229990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227975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32505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7633" y="-8800"/>
            <a:ext cx="9434733" cy="6880000"/>
          </a:xfrm>
          <a:custGeom>
            <a:avLst/>
            <a:gdLst/>
            <a:ahLst/>
            <a:cxnLst/>
            <a:rect l="l" t="t" r="r" b="b"/>
            <a:pathLst>
              <a:path w="283042" h="206400" extrusionOk="0">
                <a:moveTo>
                  <a:pt x="83248" y="0"/>
                </a:moveTo>
                <a:lnTo>
                  <a:pt x="0" y="0"/>
                </a:lnTo>
                <a:lnTo>
                  <a:pt x="0" y="206400"/>
                </a:lnTo>
                <a:lnTo>
                  <a:pt x="283042" y="206136"/>
                </a:lnTo>
                <a:close/>
              </a:path>
            </a:pathLst>
          </a:custGeom>
          <a:solidFill>
            <a:srgbClr val="212539">
              <a:alpha val="64620"/>
            </a:srgbClr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09600" y="4484567"/>
            <a:ext cx="51340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032049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14400" y="2619123"/>
            <a:ext cx="1036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914400" y="4193137"/>
            <a:ext cx="103632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5730200" y="6443967"/>
            <a:ext cx="731600" cy="4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3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theme" Target="../theme/theme8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7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  <a:p>
            <a:pPr lvl="5" rtl="0"/>
            <a:r>
              <a:rPr lang="es-ES" noProof="0" dirty="0"/>
              <a:t>Sexto nivel</a:t>
            </a:r>
          </a:p>
          <a:p>
            <a:pPr lvl="6" rtl="0"/>
            <a:r>
              <a:rPr lang="es-ES" noProof="0" dirty="0"/>
              <a:t>Séptimo nivel</a:t>
            </a:r>
          </a:p>
          <a:p>
            <a:pPr lvl="7" rtl="0"/>
            <a:r>
              <a:rPr lang="es-ES" noProof="0" dirty="0"/>
              <a:t>Octavo nivel</a:t>
            </a:r>
          </a:p>
          <a:p>
            <a:pPr lvl="8" rtl="0"/>
            <a:r>
              <a:rPr lang="es-ES" noProof="0" dirty="0"/>
              <a:t>Noveno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914400"/>
            <a:fld id="{EB0EBC17-0101-4DBA-89EA-55E7A4727CA3}" type="datetime1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defTabSz="914400"/>
              <a:t>27/03/2025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defTabSz="914400"/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algn="r" defTabSz="914400"/>
            <a:fld id="{0FF54DE5-C571-48E8-A5BC-B369434E2F44}" type="slidenum">
              <a:rPr lang="es-ES" smtClean="0">
                <a:solidFill>
                  <a:srgbClr val="514843">
                    <a:lumMod val="60000"/>
                    <a:lumOff val="40000"/>
                  </a:srgbClr>
                </a:solidFill>
              </a:rPr>
              <a:pPr algn="r" defTabSz="914400"/>
              <a:t>‹Nº›</a:t>
            </a:fld>
            <a:endParaRPr lang="es-ES" dirty="0">
              <a:solidFill>
                <a:srgbClr val="514843">
                  <a:lumMod val="60000"/>
                  <a:lumOff val="40000"/>
                </a:srgbClr>
              </a:solidFill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ector rec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129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1007533" y="836613"/>
            <a:ext cx="10574867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1007533" y="1844675"/>
            <a:ext cx="10574867" cy="428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17035" y="6356353"/>
            <a:ext cx="2637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9B2555-A99E-4547-8E69-C32AB1B2327E}" type="datetime1">
              <a:rPr lang="es-ES" smtClean="0"/>
              <a:pPr>
                <a:defRPr/>
              </a:pPr>
              <a:t>27/03/2025</a:t>
            </a:fld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E41B1039-E004-4F13-A7CA-BF72463270E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66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96EAB-7F94-4D95-8520-6C8B38C9D3E7}" type="datetimeFigureOut">
              <a:rPr lang="es-ES" smtClean="0">
                <a:solidFill>
                  <a:prstClr val="black"/>
                </a:solidFill>
              </a:rPr>
              <a:pPr/>
              <a:t>27/03/2025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454D7-7FF7-4BF1-80B8-D8C3BA6D5562}" type="slidenum">
              <a:rPr lang="es-ES" smtClean="0">
                <a:solidFill>
                  <a:prstClr val="black"/>
                </a:solidFill>
              </a:rPr>
              <a:pPr/>
              <a:t>‹Nº›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4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ransition>
    <p:cut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3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0E75E6A-5B13-EE27-CC9B-C92D7402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442917-C3BF-193D-03CF-70D8D01E0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E2BCEC-E24F-8657-01EB-AE1A9DE73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2284B-8C2E-47A2-A921-A7BCC9B07ABB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0A2729-BB3E-A477-5CF4-3C655BB9A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3BA5E-99E5-FF8C-0826-6FDA57A1B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90510-D1A5-41EB-91C6-92FD4C3A4F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418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1776FD-2FEF-B787-77BC-95A3FE30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41B659-1AA5-541C-2322-1F53EC365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79507-FB6E-58C2-7F63-8CA739136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38F88-5DA4-4F23-8BCE-E1846AB75AB8}" type="datetimeFigureOut">
              <a:rPr lang="es-ES" smtClean="0"/>
              <a:t>27/03/2025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2F1B91-2156-E362-5D6C-97E865C0B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0B60D1-B4AC-682D-1C83-C761F0C68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92264-30E3-489E-A9C8-1DCB550E41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5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5000">
              <a:srgbClr val="0C4799"/>
            </a:gs>
            <a:gs pos="10000">
              <a:srgbClr val="008DD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9296" cy="461665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057400"/>
            <a:ext cx="10361957" cy="342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435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7E69C-4D79-BB49-9350-1FEE210EB4F7}" type="datetime1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37300" y="6356350"/>
            <a:ext cx="506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463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7EE6-F7C9-3041-A28D-502F5689C8E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5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</p:sldLayoutIdLst>
  <p:transition spd="med">
    <p:fade/>
  </p:transition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000" b="0" kern="1200">
          <a:solidFill>
            <a:schemeClr val="tx1"/>
          </a:solidFill>
          <a:latin typeface="+mj-lt"/>
          <a:ea typeface="+mj-ea"/>
          <a:cs typeface="Arial"/>
        </a:defRPr>
      </a:lvl1pPr>
    </p:titleStyle>
    <p:bodyStyle>
      <a:lvl1pPr marL="114300" indent="-114300" algn="l" defTabSz="4572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Arial"/>
        <a:buChar char="•"/>
        <a:tabLst/>
        <a:defRPr sz="20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404813" indent="-1206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Char char="-"/>
        <a:tabLst/>
        <a:defRPr sz="1800" b="0" kern="1200">
          <a:solidFill>
            <a:schemeClr val="tx1"/>
          </a:solidFill>
          <a:latin typeface="+mn-lt"/>
          <a:ea typeface="+mn-ea"/>
          <a:cs typeface="Arial"/>
        </a:defRPr>
      </a:lvl2pPr>
      <a:lvl3pPr marL="742950" indent="-1206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Char char="-"/>
        <a:tabLst/>
        <a:defRPr sz="1600" b="0" kern="1200">
          <a:solidFill>
            <a:schemeClr val="tx1"/>
          </a:solidFill>
          <a:latin typeface="+mn-lt"/>
          <a:ea typeface="+mn-ea"/>
          <a:cs typeface="Arial"/>
        </a:defRPr>
      </a:lvl3pPr>
      <a:lvl4pPr marL="1216152" indent="-173736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Char char="-"/>
        <a:defRPr sz="1400" b="0" kern="1200">
          <a:solidFill>
            <a:schemeClr val="tx1"/>
          </a:solidFill>
          <a:latin typeface="+mn-lt"/>
          <a:ea typeface="+mn-ea"/>
          <a:cs typeface="Arial"/>
        </a:defRPr>
      </a:lvl4pPr>
      <a:lvl5pPr marL="1370012" indent="0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accent4">
            <a:lumMod val="60000"/>
            <a:lumOff val="40000"/>
          </a:schemeClr>
        </a:buClr>
        <a:buSzPct val="80000"/>
        <a:buFont typeface="Lucida Grande"/>
        <a:buNone/>
        <a:defRPr lang="en-US" sz="1400" b="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0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0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0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1007533" y="836613"/>
            <a:ext cx="10574867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1007533" y="1844675"/>
            <a:ext cx="10574867" cy="428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17037" y="6356355"/>
            <a:ext cx="2637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9B2555-A99E-4547-8E69-C32AB1B2327E}" type="datetime1">
              <a:rPr lang="es-ES" smtClean="0"/>
              <a:pPr>
                <a:defRPr/>
              </a:pPr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 sz="788" b="1"/>
              <a:t> R 01-2517-P    GOBIERNO ABIERTO 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fld id="{E41B1039-E004-4F13-A7CA-BF72463270E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41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9426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7" r:id="rId5"/>
    <p:sldLayoutId id="214748379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27101-341B-408B-947B-CEB78273E0A1}" type="datetimeFigureOut">
              <a:rPr lang="es-ES" smtClean="0"/>
              <a:pPr/>
              <a:t>27/03/2025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1465E-017C-432B-8533-202231FD057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8816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os.madrid.es/RegistroReutilizacion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jpe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jpe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os.madrid.es/RegistroReutilizacion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KYmzU7ZDGQ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hyperlink" Target="https://datos.madrid.es/portal/site/egob/menuitem.3efdb29b813ad8241e830cc2a8a409a0/?vgnextoid=633a157fd8e15910VgnVCM1000001d4a900aRCRD&amp;vgnextchannel=6db862c549810510VgnVCM1000008a4a900aRCRD&amp;vgnextfmt=default" TargetMode="Externa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B16C545-792D-4E0F-9D45-1ED2FBC58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118986"/>
            <a:ext cx="5486400" cy="4493367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66622C26-DF22-4DFC-B709-7143552B4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86" y="1146047"/>
            <a:ext cx="6357602" cy="45659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3D73B2-74D4-8D9B-F7B3-A3924FA52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161492"/>
            <a:ext cx="7048500" cy="7715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422E76-040D-FBB6-7857-0122D39B5285}"/>
              </a:ext>
            </a:extLst>
          </p:cNvPr>
          <p:cNvSpPr txBox="1"/>
          <p:nvPr/>
        </p:nvSpPr>
        <p:spPr>
          <a:xfrm>
            <a:off x="236826" y="2765504"/>
            <a:ext cx="60346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IV Jornada de cultura libre </a:t>
            </a:r>
          </a:p>
          <a:p>
            <a:endParaRPr lang="es-ES" b="1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s-ES" b="1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s-ES" sz="1800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“Oportunidades para emprender desde la reutilización de los datos abiertos”</a:t>
            </a:r>
          </a:p>
          <a:p>
            <a:endParaRPr lang="es-ES" b="1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s-ES" sz="1800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	27 de Marzo de 2025 </a:t>
            </a:r>
            <a:endParaRPr lang="es-ES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4C8CDB-EE25-FB92-CA52-5B9144EA8218}"/>
              </a:ext>
            </a:extLst>
          </p:cNvPr>
          <p:cNvSpPr txBox="1"/>
          <p:nvPr/>
        </p:nvSpPr>
        <p:spPr>
          <a:xfrm>
            <a:off x="6705600" y="6050177"/>
            <a:ext cx="6829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https://datos.madrid.es</a:t>
            </a:r>
          </a:p>
        </p:txBody>
      </p:sp>
    </p:spTree>
    <p:extLst>
      <p:ext uri="{BB962C8B-B14F-4D97-AF65-F5344CB8AC3E}">
        <p14:creationId xmlns:p14="http://schemas.microsoft.com/office/powerpoint/2010/main" val="381320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61F652-F472-7F25-2290-35721EA4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862"/>
            <a:ext cx="6674990" cy="5248275"/>
          </a:xfrm>
          <a:prstGeom prst="rect">
            <a:avLst/>
          </a:prstGeom>
        </p:spPr>
      </p:pic>
      <p:grpSp>
        <p:nvGrpSpPr>
          <p:cNvPr id="5" name="Group 6">
            <a:extLst>
              <a:ext uri="{FF2B5EF4-FFF2-40B4-BE49-F238E27FC236}">
                <a16:creationId xmlns:a16="http://schemas.microsoft.com/office/drawing/2014/main" id="{D8E471C6-8182-C368-FEFD-6AB32EF03BA0}"/>
              </a:ext>
            </a:extLst>
          </p:cNvPr>
          <p:cNvGrpSpPr/>
          <p:nvPr/>
        </p:nvGrpSpPr>
        <p:grpSpPr>
          <a:xfrm>
            <a:off x="6184683" y="5423043"/>
            <a:ext cx="1113889" cy="1175999"/>
            <a:chOff x="4044950" y="1879600"/>
            <a:chExt cx="2743200" cy="2743200"/>
          </a:xfrm>
          <a:effectLst/>
          <a:scene3d>
            <a:camera prst="isometricOffAxis2Top"/>
            <a:lightRig rig="threePt" dir="t"/>
          </a:scene3d>
        </p:grpSpPr>
        <p:sp>
          <p:nvSpPr>
            <p:cNvPr id="6" name="Donut 1">
              <a:extLst>
                <a:ext uri="{FF2B5EF4-FFF2-40B4-BE49-F238E27FC236}">
                  <a16:creationId xmlns:a16="http://schemas.microsoft.com/office/drawing/2014/main" id="{E72963C4-7C6B-F944-B32E-6A27AB4F99F1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chemeClr val="accent3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p3d z="857250" extrusionH="3556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" name="Donut 2">
              <a:extLst>
                <a:ext uri="{FF2B5EF4-FFF2-40B4-BE49-F238E27FC236}">
                  <a16:creationId xmlns:a16="http://schemas.microsoft.com/office/drawing/2014/main" id="{0CFA24BF-8E10-CBF9-D3C8-D5C15BF632CD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chemeClr val="accent1"/>
            </a:solidFill>
            <a:ln>
              <a:noFill/>
            </a:ln>
            <a:sp3d z="1701800" extrusionH="3556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Donut 3">
              <a:extLst>
                <a:ext uri="{FF2B5EF4-FFF2-40B4-BE49-F238E27FC236}">
                  <a16:creationId xmlns:a16="http://schemas.microsoft.com/office/drawing/2014/main" id="{D35E70B1-F629-D504-FD20-9AF2EA67A447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chemeClr val="accent5"/>
            </a:solidFill>
            <a:ln>
              <a:noFill/>
            </a:ln>
            <a:sp3d z="2641600" extrusionH="3556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Donut 4">
              <a:extLst>
                <a:ext uri="{FF2B5EF4-FFF2-40B4-BE49-F238E27FC236}">
                  <a16:creationId xmlns:a16="http://schemas.microsoft.com/office/drawing/2014/main" id="{1074E4E9-E4A8-8EF2-A0FB-03D42F4ACB0C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chemeClr val="accent4"/>
            </a:solidFill>
            <a:ln>
              <a:noFill/>
            </a:ln>
            <a:sp3d z="3556000" extrusionH="3556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0FE330E6-A649-8FCB-67A3-7D6402575998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sp3d z="4445000" extrusionH="3556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1" name="58 Flecha derecha">
            <a:extLst>
              <a:ext uri="{FF2B5EF4-FFF2-40B4-BE49-F238E27FC236}">
                <a16:creationId xmlns:a16="http://schemas.microsoft.com/office/drawing/2014/main" id="{00F31725-9F2A-9ED8-6B3F-9718A0C5D010}"/>
              </a:ext>
            </a:extLst>
          </p:cNvPr>
          <p:cNvSpPr/>
          <p:nvPr/>
        </p:nvSpPr>
        <p:spPr>
          <a:xfrm>
            <a:off x="7581025" y="1647962"/>
            <a:ext cx="64294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12" name="63 CuadroTexto">
            <a:extLst>
              <a:ext uri="{FF2B5EF4-FFF2-40B4-BE49-F238E27FC236}">
                <a16:creationId xmlns:a16="http://schemas.microsoft.com/office/drawing/2014/main" id="{C8D09895-FA3B-DD97-BD2B-680AB317B172}"/>
              </a:ext>
            </a:extLst>
          </p:cNvPr>
          <p:cNvSpPr txBox="1"/>
          <p:nvPr/>
        </p:nvSpPr>
        <p:spPr>
          <a:xfrm>
            <a:off x="8295405" y="1647963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21 distritos</a:t>
            </a:r>
          </a:p>
        </p:txBody>
      </p:sp>
      <p:sp>
        <p:nvSpPr>
          <p:cNvPr id="14" name="3 CuadroTexto">
            <a:extLst>
              <a:ext uri="{FF2B5EF4-FFF2-40B4-BE49-F238E27FC236}">
                <a16:creationId xmlns:a16="http://schemas.microsoft.com/office/drawing/2014/main" id="{445754C6-6F08-26A0-1520-0022F65D4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3373" y="53910"/>
            <a:ext cx="4572032" cy="584775"/>
          </a:xfrm>
          <a:prstGeom prst="rect">
            <a:avLst/>
          </a:prstGeom>
          <a:solidFill>
            <a:schemeClr val="bg1"/>
          </a:solidFill>
          <a:ln w="57150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E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Algunas cifras</a:t>
            </a:r>
            <a:endParaRPr lang="es-ES" altLang="es-ES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58 Flecha derecha">
            <a:extLst>
              <a:ext uri="{FF2B5EF4-FFF2-40B4-BE49-F238E27FC236}">
                <a16:creationId xmlns:a16="http://schemas.microsoft.com/office/drawing/2014/main" id="{EB331158-5FA4-EDBB-F7E5-11E40AFC4460}"/>
              </a:ext>
            </a:extLst>
          </p:cNvPr>
          <p:cNvSpPr/>
          <p:nvPr/>
        </p:nvSpPr>
        <p:spPr>
          <a:xfrm>
            <a:off x="7590964" y="2321628"/>
            <a:ext cx="64294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63 CuadroTexto">
            <a:extLst>
              <a:ext uri="{FF2B5EF4-FFF2-40B4-BE49-F238E27FC236}">
                <a16:creationId xmlns:a16="http://schemas.microsoft.com/office/drawing/2014/main" id="{A1CEFB4E-F6FF-BD36-EDC7-288BE8B9B4A0}"/>
              </a:ext>
            </a:extLst>
          </p:cNvPr>
          <p:cNvSpPr txBox="1"/>
          <p:nvPr/>
        </p:nvSpPr>
        <p:spPr>
          <a:xfrm>
            <a:off x="8295405" y="2321629"/>
            <a:ext cx="14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131 barrios</a:t>
            </a:r>
          </a:p>
        </p:txBody>
      </p:sp>
      <p:sp>
        <p:nvSpPr>
          <p:cNvPr id="17" name="58 Flecha derecha">
            <a:extLst>
              <a:ext uri="{FF2B5EF4-FFF2-40B4-BE49-F238E27FC236}">
                <a16:creationId xmlns:a16="http://schemas.microsoft.com/office/drawing/2014/main" id="{B5B8F576-5DE7-2F93-5675-EE0748930006}"/>
              </a:ext>
            </a:extLst>
          </p:cNvPr>
          <p:cNvSpPr/>
          <p:nvPr/>
        </p:nvSpPr>
        <p:spPr>
          <a:xfrm>
            <a:off x="7570765" y="3710382"/>
            <a:ext cx="64294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63 CuadroTexto">
            <a:extLst>
              <a:ext uri="{FF2B5EF4-FFF2-40B4-BE49-F238E27FC236}">
                <a16:creationId xmlns:a16="http://schemas.microsoft.com/office/drawing/2014/main" id="{31349CAC-3D44-BC22-FDC2-3D44C9CE3CCB}"/>
              </a:ext>
            </a:extLst>
          </p:cNvPr>
          <p:cNvSpPr txBox="1"/>
          <p:nvPr/>
        </p:nvSpPr>
        <p:spPr>
          <a:xfrm>
            <a:off x="8275207" y="3710383"/>
            <a:ext cx="3990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1,5 millones de población flotante</a:t>
            </a:r>
          </a:p>
        </p:txBody>
      </p:sp>
      <p:sp>
        <p:nvSpPr>
          <p:cNvPr id="27" name="58 Flecha derecha">
            <a:extLst>
              <a:ext uri="{FF2B5EF4-FFF2-40B4-BE49-F238E27FC236}">
                <a16:creationId xmlns:a16="http://schemas.microsoft.com/office/drawing/2014/main" id="{2DC6B0F6-77B6-964D-2A15-5B43CFE31C81}"/>
              </a:ext>
            </a:extLst>
          </p:cNvPr>
          <p:cNvSpPr/>
          <p:nvPr/>
        </p:nvSpPr>
        <p:spPr>
          <a:xfrm>
            <a:off x="7590964" y="4445590"/>
            <a:ext cx="64294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63 CuadroTexto">
            <a:extLst>
              <a:ext uri="{FF2B5EF4-FFF2-40B4-BE49-F238E27FC236}">
                <a16:creationId xmlns:a16="http://schemas.microsoft.com/office/drawing/2014/main" id="{9B078268-E986-5ED5-1A08-479E8D127272}"/>
              </a:ext>
            </a:extLst>
          </p:cNvPr>
          <p:cNvSpPr txBox="1"/>
          <p:nvPr/>
        </p:nvSpPr>
        <p:spPr>
          <a:xfrm>
            <a:off x="8295405" y="4445591"/>
            <a:ext cx="3986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Del orden de 30.000 trabajadores</a:t>
            </a:r>
          </a:p>
        </p:txBody>
      </p:sp>
      <p:sp>
        <p:nvSpPr>
          <p:cNvPr id="29" name="58 Flecha derecha">
            <a:extLst>
              <a:ext uri="{FF2B5EF4-FFF2-40B4-BE49-F238E27FC236}">
                <a16:creationId xmlns:a16="http://schemas.microsoft.com/office/drawing/2014/main" id="{FADDE64D-E86B-F350-28FE-DF56F1561B8C}"/>
              </a:ext>
            </a:extLst>
          </p:cNvPr>
          <p:cNvSpPr/>
          <p:nvPr/>
        </p:nvSpPr>
        <p:spPr>
          <a:xfrm>
            <a:off x="7590964" y="2979978"/>
            <a:ext cx="64294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63 CuadroTexto">
            <a:extLst>
              <a:ext uri="{FF2B5EF4-FFF2-40B4-BE49-F238E27FC236}">
                <a16:creationId xmlns:a16="http://schemas.microsoft.com/office/drawing/2014/main" id="{954C2FFA-1FBE-23DB-4086-59B69950CB61}"/>
              </a:ext>
            </a:extLst>
          </p:cNvPr>
          <p:cNvSpPr txBox="1"/>
          <p:nvPr/>
        </p:nvSpPr>
        <p:spPr>
          <a:xfrm>
            <a:off x="8295405" y="2979979"/>
            <a:ext cx="3714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3.460.491 personas residentes </a:t>
            </a:r>
          </a:p>
        </p:txBody>
      </p:sp>
      <p:sp>
        <p:nvSpPr>
          <p:cNvPr id="31" name="58 Flecha derecha">
            <a:extLst>
              <a:ext uri="{FF2B5EF4-FFF2-40B4-BE49-F238E27FC236}">
                <a16:creationId xmlns:a16="http://schemas.microsoft.com/office/drawing/2014/main" id="{D4DAC2EE-1110-33EB-27F4-8C914B0606FC}"/>
              </a:ext>
            </a:extLst>
          </p:cNvPr>
          <p:cNvSpPr/>
          <p:nvPr/>
        </p:nvSpPr>
        <p:spPr>
          <a:xfrm>
            <a:off x="7590964" y="5096279"/>
            <a:ext cx="64294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63 CuadroTexto">
            <a:extLst>
              <a:ext uri="{FF2B5EF4-FFF2-40B4-BE49-F238E27FC236}">
                <a16:creationId xmlns:a16="http://schemas.microsoft.com/office/drawing/2014/main" id="{7C038DCF-5ABA-889B-71DB-0D17E711A558}"/>
              </a:ext>
            </a:extLst>
          </p:cNvPr>
          <p:cNvSpPr txBox="1"/>
          <p:nvPr/>
        </p:nvSpPr>
        <p:spPr>
          <a:xfrm>
            <a:off x="8295405" y="5096280"/>
            <a:ext cx="4087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Cientos de edificios e instalaciones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55053471-CDE5-3CAB-5A93-C99EA757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900" y="0"/>
            <a:ext cx="1652796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1EE8616-1425-E83E-E05B-3BAA8336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26" y="0"/>
            <a:ext cx="9971548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CC18A21-E6A1-C221-6F5B-CBBA8E79C08E}"/>
              </a:ext>
            </a:extLst>
          </p:cNvPr>
          <p:cNvSpPr txBox="1"/>
          <p:nvPr/>
        </p:nvSpPr>
        <p:spPr>
          <a:xfrm>
            <a:off x="162531" y="967666"/>
            <a:ext cx="1077539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21 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515E96-DC54-351F-3899-324116499D0E}"/>
              </a:ext>
            </a:extLst>
          </p:cNvPr>
          <p:cNvSpPr txBox="1"/>
          <p:nvPr/>
        </p:nvSpPr>
        <p:spPr>
          <a:xfrm>
            <a:off x="4289393" y="5931763"/>
            <a:ext cx="1104790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 AG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8BC6FD-0D55-AEF2-885C-FC8C190CA8CF}"/>
              </a:ext>
            </a:extLst>
          </p:cNvPr>
          <p:cNvSpPr txBox="1"/>
          <p:nvPr/>
        </p:nvSpPr>
        <p:spPr>
          <a:xfrm>
            <a:off x="11017654" y="1232844"/>
            <a:ext cx="1133644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 OA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8361BD-6E9E-E315-94FC-0017B1D82BDA}"/>
              </a:ext>
            </a:extLst>
          </p:cNvPr>
          <p:cNvSpPr txBox="1"/>
          <p:nvPr/>
        </p:nvSpPr>
        <p:spPr>
          <a:xfrm>
            <a:off x="11017654" y="2122091"/>
            <a:ext cx="1011815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 EP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EEFFEF-F922-C758-FD0B-5E58E27C02CB}"/>
              </a:ext>
            </a:extLst>
          </p:cNvPr>
          <p:cNvSpPr txBox="1"/>
          <p:nvPr/>
        </p:nvSpPr>
        <p:spPr>
          <a:xfrm>
            <a:off x="9271984" y="5948407"/>
            <a:ext cx="2879314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3.5 Millones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+ 1.5 Población flotante</a:t>
            </a:r>
          </a:p>
        </p:txBody>
      </p:sp>
    </p:spTree>
    <p:extLst>
      <p:ext uri="{BB962C8B-B14F-4D97-AF65-F5344CB8AC3E}">
        <p14:creationId xmlns:p14="http://schemas.microsoft.com/office/powerpoint/2010/main" val="395948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81DA332-876D-411B-A8A1-8949A2C4A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100"/>
            <a:ext cx="12192000" cy="5295900"/>
          </a:xfrm>
          <a:prstGeom prst="rect">
            <a:avLst/>
          </a:prstGeom>
        </p:spPr>
      </p:pic>
      <p:sp>
        <p:nvSpPr>
          <p:cNvPr id="6" name="3 CuadroTexto">
            <a:extLst>
              <a:ext uri="{FF2B5EF4-FFF2-40B4-BE49-F238E27FC236}">
                <a16:creationId xmlns:a16="http://schemas.microsoft.com/office/drawing/2014/main" id="{6F184368-C6F8-B836-EFFF-80C678EBD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900" y="72383"/>
            <a:ext cx="7277136" cy="1077218"/>
          </a:xfrm>
          <a:prstGeom prst="rect">
            <a:avLst/>
          </a:prstGeom>
          <a:solidFill>
            <a:schemeClr val="bg1"/>
          </a:solidFill>
          <a:ln w="57150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ES" sz="3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Algunos equipamientos e instalaciones del Ayuntamiento de Madrid</a:t>
            </a:r>
            <a:endParaRPr lang="es-ES" altLang="es-ES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2" descr="Icono de base de datos rojo (símbolo png)">
            <a:extLst>
              <a:ext uri="{FF2B5EF4-FFF2-40B4-BE49-F238E27FC236}">
                <a16:creationId xmlns:a16="http://schemas.microsoft.com/office/drawing/2014/main" id="{F5AC2CA7-0A7D-7FD2-9A89-FC0A0D807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59" y="410048"/>
            <a:ext cx="814388" cy="81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cono de base de datos rojo (símbolo png)">
            <a:extLst>
              <a:ext uri="{FF2B5EF4-FFF2-40B4-BE49-F238E27FC236}">
                <a16:creationId xmlns:a16="http://schemas.microsoft.com/office/drawing/2014/main" id="{E8514BD9-D793-24C3-90EC-B9EE2D4BF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920" y="72383"/>
            <a:ext cx="814388" cy="81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4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8">
            <a:extLst>
              <a:ext uri="{FF2B5EF4-FFF2-40B4-BE49-F238E27FC236}">
                <a16:creationId xmlns:a16="http://schemas.microsoft.com/office/drawing/2014/main" id="{FD3BF45E-BF30-415A-A788-6EC8CFD7FE59}"/>
              </a:ext>
            </a:extLst>
          </p:cNvPr>
          <p:cNvSpPr/>
          <p:nvPr/>
        </p:nvSpPr>
        <p:spPr>
          <a:xfrm>
            <a:off x="4772014" y="1493818"/>
            <a:ext cx="2647971" cy="2647970"/>
          </a:xfrm>
          <a:custGeom>
            <a:avLst/>
            <a:gdLst>
              <a:gd name="connsiteX0" fmla="*/ 915603 w 1831206"/>
              <a:gd name="connsiteY0" fmla="*/ 0 h 1831206"/>
              <a:gd name="connsiteX1" fmla="*/ 1831206 w 1831206"/>
              <a:gd name="connsiteY1" fmla="*/ 915603 h 1831206"/>
              <a:gd name="connsiteX2" fmla="*/ 915603 w 1831206"/>
              <a:gd name="connsiteY2" fmla="*/ 1831206 h 1831206"/>
              <a:gd name="connsiteX3" fmla="*/ 909247 w 1831206"/>
              <a:gd name="connsiteY3" fmla="*/ 1830885 h 1831206"/>
              <a:gd name="connsiteX4" fmla="*/ 866168 w 1831206"/>
              <a:gd name="connsiteY4" fmla="*/ 1759975 h 1831206"/>
              <a:gd name="connsiteX5" fmla="*/ 146029 w 1831206"/>
              <a:gd name="connsiteY5" fmla="*/ 1328343 h 1831206"/>
              <a:gd name="connsiteX6" fmla="*/ 97926 w 1831206"/>
              <a:gd name="connsiteY6" fmla="*/ 1325914 h 1831206"/>
              <a:gd name="connsiteX7" fmla="*/ 71953 w 1831206"/>
              <a:gd name="connsiteY7" fmla="*/ 1271997 h 1831206"/>
              <a:gd name="connsiteX8" fmla="*/ 0 w 1831206"/>
              <a:gd name="connsiteY8" fmla="*/ 915603 h 1831206"/>
              <a:gd name="connsiteX9" fmla="*/ 915603 w 1831206"/>
              <a:gd name="connsiteY9" fmla="*/ 0 h 183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31206" h="1831206">
                <a:moveTo>
                  <a:pt x="915603" y="0"/>
                </a:moveTo>
                <a:cubicBezTo>
                  <a:pt x="1421277" y="0"/>
                  <a:pt x="1831206" y="409929"/>
                  <a:pt x="1831206" y="915603"/>
                </a:cubicBezTo>
                <a:cubicBezTo>
                  <a:pt x="1831206" y="1421277"/>
                  <a:pt x="1421277" y="1831206"/>
                  <a:pt x="915603" y="1831206"/>
                </a:cubicBezTo>
                <a:lnTo>
                  <a:pt x="909247" y="1830885"/>
                </a:lnTo>
                <a:lnTo>
                  <a:pt x="866168" y="1759975"/>
                </a:lnTo>
                <a:cubicBezTo>
                  <a:pt x="705952" y="1522824"/>
                  <a:pt x="445739" y="1358781"/>
                  <a:pt x="146029" y="1328343"/>
                </a:cubicBezTo>
                <a:lnTo>
                  <a:pt x="97926" y="1325914"/>
                </a:lnTo>
                <a:lnTo>
                  <a:pt x="71953" y="1271997"/>
                </a:lnTo>
                <a:cubicBezTo>
                  <a:pt x="25621" y="1162456"/>
                  <a:pt x="0" y="1042022"/>
                  <a:pt x="0" y="915603"/>
                </a:cubicBezTo>
                <a:cubicBezTo>
                  <a:pt x="0" y="409929"/>
                  <a:pt x="409929" y="0"/>
                  <a:pt x="915603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Freeform 29">
            <a:extLst>
              <a:ext uri="{FF2B5EF4-FFF2-40B4-BE49-F238E27FC236}">
                <a16:creationId xmlns:a16="http://schemas.microsoft.com/office/drawing/2014/main" id="{2B27D4D4-9B12-4C5D-BEA8-42DF7212679A}"/>
              </a:ext>
            </a:extLst>
          </p:cNvPr>
          <p:cNvSpPr/>
          <p:nvPr/>
        </p:nvSpPr>
        <p:spPr>
          <a:xfrm>
            <a:off x="3512733" y="3515690"/>
            <a:ext cx="2523136" cy="2647970"/>
          </a:xfrm>
          <a:custGeom>
            <a:avLst/>
            <a:gdLst>
              <a:gd name="connsiteX0" fmla="*/ 915603 w 1744877"/>
              <a:gd name="connsiteY0" fmla="*/ 0 h 1831206"/>
              <a:gd name="connsiteX1" fmla="*/ 1720698 w 1744877"/>
              <a:gd name="connsiteY1" fmla="*/ 479172 h 1831206"/>
              <a:gd name="connsiteX2" fmla="*/ 1744877 w 1744877"/>
              <a:gd name="connsiteY2" fmla="*/ 529365 h 1831206"/>
              <a:gd name="connsiteX3" fmla="*/ 1744563 w 1744877"/>
              <a:gd name="connsiteY3" fmla="*/ 530016 h 1831206"/>
              <a:gd name="connsiteX4" fmla="*/ 1666717 w 1744877"/>
              <a:gd name="connsiteY4" fmla="*/ 915603 h 1831206"/>
              <a:gd name="connsiteX5" fmla="*/ 1744563 w 1744877"/>
              <a:gd name="connsiteY5" fmla="*/ 1301190 h 1831206"/>
              <a:gd name="connsiteX6" fmla="*/ 1744877 w 1744877"/>
              <a:gd name="connsiteY6" fmla="*/ 1301841 h 1831206"/>
              <a:gd name="connsiteX7" fmla="*/ 1720698 w 1744877"/>
              <a:gd name="connsiteY7" fmla="*/ 1352034 h 1831206"/>
              <a:gd name="connsiteX8" fmla="*/ 915603 w 1744877"/>
              <a:gd name="connsiteY8" fmla="*/ 1831206 h 1831206"/>
              <a:gd name="connsiteX9" fmla="*/ 0 w 1744877"/>
              <a:gd name="connsiteY9" fmla="*/ 915603 h 1831206"/>
              <a:gd name="connsiteX10" fmla="*/ 915603 w 1744877"/>
              <a:gd name="connsiteY10" fmla="*/ 0 h 183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44877" h="1831206">
                <a:moveTo>
                  <a:pt x="915603" y="0"/>
                </a:moveTo>
                <a:cubicBezTo>
                  <a:pt x="1263254" y="0"/>
                  <a:pt x="1565651" y="193756"/>
                  <a:pt x="1720698" y="479172"/>
                </a:cubicBezTo>
                <a:lnTo>
                  <a:pt x="1744877" y="529365"/>
                </a:lnTo>
                <a:lnTo>
                  <a:pt x="1744563" y="530016"/>
                </a:lnTo>
                <a:cubicBezTo>
                  <a:pt x="1694436" y="648530"/>
                  <a:pt x="1666717" y="778830"/>
                  <a:pt x="1666717" y="915603"/>
                </a:cubicBezTo>
                <a:cubicBezTo>
                  <a:pt x="1666717" y="1052377"/>
                  <a:pt x="1694436" y="1182676"/>
                  <a:pt x="1744563" y="1301190"/>
                </a:cubicBezTo>
                <a:lnTo>
                  <a:pt x="1744877" y="1301841"/>
                </a:lnTo>
                <a:lnTo>
                  <a:pt x="1720698" y="1352034"/>
                </a:lnTo>
                <a:cubicBezTo>
                  <a:pt x="1565651" y="1637451"/>
                  <a:pt x="1263254" y="1831206"/>
                  <a:pt x="915603" y="1831206"/>
                </a:cubicBezTo>
                <a:cubicBezTo>
                  <a:pt x="409929" y="1831206"/>
                  <a:pt x="0" y="1421277"/>
                  <a:pt x="0" y="915603"/>
                </a:cubicBezTo>
                <a:cubicBezTo>
                  <a:pt x="0" y="409929"/>
                  <a:pt x="409929" y="0"/>
                  <a:pt x="915603" y="0"/>
                </a:cubicBezTo>
                <a:close/>
              </a:path>
            </a:pathLst>
          </a:custGeom>
          <a:solidFill>
            <a:srgbClr val="F3A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Freeform 30">
            <a:extLst>
              <a:ext uri="{FF2B5EF4-FFF2-40B4-BE49-F238E27FC236}">
                <a16:creationId xmlns:a16="http://schemas.microsoft.com/office/drawing/2014/main" id="{0E77BF15-BC0E-4425-9625-D089EA0693EE}"/>
              </a:ext>
            </a:extLst>
          </p:cNvPr>
          <p:cNvSpPr/>
          <p:nvPr/>
        </p:nvSpPr>
        <p:spPr>
          <a:xfrm>
            <a:off x="6031297" y="3515690"/>
            <a:ext cx="2647971" cy="2647970"/>
          </a:xfrm>
          <a:custGeom>
            <a:avLst/>
            <a:gdLst>
              <a:gd name="connsiteX0" fmla="*/ 915603 w 1831206"/>
              <a:gd name="connsiteY0" fmla="*/ 0 h 1831206"/>
              <a:gd name="connsiteX1" fmla="*/ 1831206 w 1831206"/>
              <a:gd name="connsiteY1" fmla="*/ 915603 h 1831206"/>
              <a:gd name="connsiteX2" fmla="*/ 915603 w 1831206"/>
              <a:gd name="connsiteY2" fmla="*/ 1831206 h 1831206"/>
              <a:gd name="connsiteX3" fmla="*/ 0 w 1831206"/>
              <a:gd name="connsiteY3" fmla="*/ 915603 h 1831206"/>
              <a:gd name="connsiteX4" fmla="*/ 71953 w 1831206"/>
              <a:gd name="connsiteY4" fmla="*/ 559209 h 1831206"/>
              <a:gd name="connsiteX5" fmla="*/ 97926 w 1831206"/>
              <a:gd name="connsiteY5" fmla="*/ 505292 h 1831206"/>
              <a:gd name="connsiteX6" fmla="*/ 146028 w 1831206"/>
              <a:gd name="connsiteY6" fmla="*/ 502863 h 1831206"/>
              <a:gd name="connsiteX7" fmla="*/ 866167 w 1831206"/>
              <a:gd name="connsiteY7" fmla="*/ 71231 h 1831206"/>
              <a:gd name="connsiteX8" fmla="*/ 909246 w 1831206"/>
              <a:gd name="connsiteY8" fmla="*/ 321 h 1831206"/>
              <a:gd name="connsiteX9" fmla="*/ 915603 w 1831206"/>
              <a:gd name="connsiteY9" fmla="*/ 0 h 183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31206" h="1831206">
                <a:moveTo>
                  <a:pt x="915603" y="0"/>
                </a:moveTo>
                <a:cubicBezTo>
                  <a:pt x="1421277" y="0"/>
                  <a:pt x="1831206" y="409929"/>
                  <a:pt x="1831206" y="915603"/>
                </a:cubicBezTo>
                <a:cubicBezTo>
                  <a:pt x="1831206" y="1421277"/>
                  <a:pt x="1421277" y="1831206"/>
                  <a:pt x="915603" y="1831206"/>
                </a:cubicBezTo>
                <a:cubicBezTo>
                  <a:pt x="409929" y="1831206"/>
                  <a:pt x="0" y="1421277"/>
                  <a:pt x="0" y="915603"/>
                </a:cubicBezTo>
                <a:cubicBezTo>
                  <a:pt x="0" y="789185"/>
                  <a:pt x="25621" y="668750"/>
                  <a:pt x="71953" y="559209"/>
                </a:cubicBezTo>
                <a:lnTo>
                  <a:pt x="97926" y="505292"/>
                </a:lnTo>
                <a:lnTo>
                  <a:pt x="146028" y="502863"/>
                </a:lnTo>
                <a:cubicBezTo>
                  <a:pt x="445738" y="472426"/>
                  <a:pt x="705951" y="308382"/>
                  <a:pt x="866167" y="71231"/>
                </a:cubicBezTo>
                <a:lnTo>
                  <a:pt x="909246" y="321"/>
                </a:lnTo>
                <a:lnTo>
                  <a:pt x="915603" y="0"/>
                </a:lnTo>
                <a:close/>
              </a:path>
            </a:pathLst>
          </a:custGeom>
          <a:solidFill>
            <a:srgbClr val="A1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4" name="Group 31">
            <a:extLst>
              <a:ext uri="{FF2B5EF4-FFF2-40B4-BE49-F238E27FC236}">
                <a16:creationId xmlns:a16="http://schemas.microsoft.com/office/drawing/2014/main" id="{9C18B3A7-555A-4C11-A711-AAAE3F22F008}"/>
              </a:ext>
            </a:extLst>
          </p:cNvPr>
          <p:cNvGrpSpPr/>
          <p:nvPr/>
        </p:nvGrpSpPr>
        <p:grpSpPr>
          <a:xfrm>
            <a:off x="5097432" y="2097381"/>
            <a:ext cx="1996063" cy="923330"/>
            <a:chOff x="6016515" y="4349648"/>
            <a:chExt cx="1678714" cy="824986"/>
          </a:xfrm>
        </p:grpSpPr>
        <p:sp>
          <p:nvSpPr>
            <p:cNvPr id="28" name="Rectangle 35">
              <a:extLst>
                <a:ext uri="{FF2B5EF4-FFF2-40B4-BE49-F238E27FC236}">
                  <a16:creationId xmlns:a16="http://schemas.microsoft.com/office/drawing/2014/main" id="{5771895E-887E-4662-98F8-FC1FD17B6DF3}"/>
                </a:ext>
              </a:extLst>
            </p:cNvPr>
            <p:cNvSpPr/>
            <p:nvPr/>
          </p:nvSpPr>
          <p:spPr>
            <a:xfrm>
              <a:off x="6487021" y="4491658"/>
              <a:ext cx="1208208" cy="6324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Publicidad </a:t>
              </a:r>
            </a:p>
            <a:p>
              <a:r>
                <a:rPr lang="en-US" sz="2000" b="1" dirty="0" err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Activa</a:t>
              </a:r>
              <a:endParaRPr lang="en-US" sz="20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7C6864BC-9D0C-49C7-8343-2B341A4F5B41}"/>
                </a:ext>
              </a:extLst>
            </p:cNvPr>
            <p:cNvSpPr txBox="1"/>
            <p:nvPr/>
          </p:nvSpPr>
          <p:spPr>
            <a:xfrm>
              <a:off x="6016515" y="4349648"/>
              <a:ext cx="493691" cy="8249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</a:p>
          </p:txBody>
        </p:sp>
      </p:grpSp>
      <p:grpSp>
        <p:nvGrpSpPr>
          <p:cNvPr id="29" name="Group 36">
            <a:extLst>
              <a:ext uri="{FF2B5EF4-FFF2-40B4-BE49-F238E27FC236}">
                <a16:creationId xmlns:a16="http://schemas.microsoft.com/office/drawing/2014/main" id="{85C9F1FF-29B5-4C4F-9662-5403B82127EE}"/>
              </a:ext>
            </a:extLst>
          </p:cNvPr>
          <p:cNvGrpSpPr/>
          <p:nvPr/>
        </p:nvGrpSpPr>
        <p:grpSpPr>
          <a:xfrm>
            <a:off x="6146545" y="4258059"/>
            <a:ext cx="2407888" cy="1069269"/>
            <a:chOff x="5791062" y="4349647"/>
            <a:chExt cx="3874638" cy="955381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FA49E204-1766-4ACF-A37A-FC99B8E9F89F}"/>
                </a:ext>
              </a:extLst>
            </p:cNvPr>
            <p:cNvSpPr/>
            <p:nvPr/>
          </p:nvSpPr>
          <p:spPr>
            <a:xfrm>
              <a:off x="6980895" y="4397543"/>
              <a:ext cx="2684805" cy="907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Acceso a Información Pública</a:t>
              </a:r>
            </a:p>
          </p:txBody>
        </p:sp>
        <p:sp>
          <p:nvSpPr>
            <p:cNvPr id="31" name="TextBox 38">
              <a:extLst>
                <a:ext uri="{FF2B5EF4-FFF2-40B4-BE49-F238E27FC236}">
                  <a16:creationId xmlns:a16="http://schemas.microsoft.com/office/drawing/2014/main" id="{604BE529-EAB4-41D3-A5CF-D8EF1A9BB640}"/>
                </a:ext>
              </a:extLst>
            </p:cNvPr>
            <p:cNvSpPr txBox="1"/>
            <p:nvPr/>
          </p:nvSpPr>
          <p:spPr>
            <a:xfrm>
              <a:off x="5791062" y="4349647"/>
              <a:ext cx="944600" cy="8249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5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grpSp>
        <p:nvGrpSpPr>
          <p:cNvPr id="34" name="Group 41">
            <a:extLst>
              <a:ext uri="{FF2B5EF4-FFF2-40B4-BE49-F238E27FC236}">
                <a16:creationId xmlns:a16="http://schemas.microsoft.com/office/drawing/2014/main" id="{28F3018A-E73E-47AD-9B62-7F3E520ECB7D}"/>
              </a:ext>
            </a:extLst>
          </p:cNvPr>
          <p:cNvGrpSpPr/>
          <p:nvPr/>
        </p:nvGrpSpPr>
        <p:grpSpPr>
          <a:xfrm>
            <a:off x="3672992" y="4370122"/>
            <a:ext cx="1825592" cy="923330"/>
            <a:chOff x="6001113" y="4349647"/>
            <a:chExt cx="1631148" cy="824986"/>
          </a:xfrm>
        </p:grpSpPr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D1A6BE85-28B7-418A-BC0E-81D7BC9F0173}"/>
                </a:ext>
              </a:extLst>
            </p:cNvPr>
            <p:cNvSpPr/>
            <p:nvPr/>
          </p:nvSpPr>
          <p:spPr>
            <a:xfrm>
              <a:off x="6593581" y="4452945"/>
              <a:ext cx="1038680" cy="6324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Datos </a:t>
              </a:r>
            </a:p>
            <a:p>
              <a:r>
                <a:rPr lang="en-US" sz="2000" b="1" dirty="0" err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Abiertos</a:t>
              </a:r>
              <a:endPara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6" name="TextBox 43">
              <a:extLst>
                <a:ext uri="{FF2B5EF4-FFF2-40B4-BE49-F238E27FC236}">
                  <a16:creationId xmlns:a16="http://schemas.microsoft.com/office/drawing/2014/main" id="{8F0B129F-5E50-4A4A-A272-D5F40B790AAB}"/>
                </a:ext>
              </a:extLst>
            </p:cNvPr>
            <p:cNvSpPr txBox="1"/>
            <p:nvPr/>
          </p:nvSpPr>
          <p:spPr>
            <a:xfrm>
              <a:off x="6001113" y="4349647"/>
              <a:ext cx="524496" cy="8249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5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</a:t>
              </a:r>
            </a:p>
          </p:txBody>
        </p:sp>
      </p:grpSp>
      <p:sp>
        <p:nvSpPr>
          <p:cNvPr id="14" name="1 Título">
            <a:extLst>
              <a:ext uri="{FF2B5EF4-FFF2-40B4-BE49-F238E27FC236}">
                <a16:creationId xmlns:a16="http://schemas.microsoft.com/office/drawing/2014/main" id="{395BB5AE-24FD-4838-AE90-58F1D69A7EE3}"/>
              </a:ext>
            </a:extLst>
          </p:cNvPr>
          <p:cNvSpPr txBox="1">
            <a:spLocks/>
          </p:cNvSpPr>
          <p:nvPr/>
        </p:nvSpPr>
        <p:spPr>
          <a:xfrm>
            <a:off x="1701592" y="120498"/>
            <a:ext cx="9144000" cy="714359"/>
          </a:xfrm>
          <a:prstGeom prst="rect">
            <a:avLst/>
          </a:prstGeom>
          <a:solidFill>
            <a:schemeClr val="bg1"/>
          </a:solidFill>
        </p:spPr>
        <p:txBody>
          <a:bodyPr lIns="68580" tIns="34290" rIns="68580" bIns="34290"/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s-ES_tradnl" altLang="es-E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Pilares de la Transparencia</a:t>
            </a:r>
          </a:p>
        </p:txBody>
      </p:sp>
    </p:spTree>
    <p:extLst>
      <p:ext uri="{BB962C8B-B14F-4D97-AF65-F5344CB8AC3E}">
        <p14:creationId xmlns:p14="http://schemas.microsoft.com/office/powerpoint/2010/main" val="315362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2 CuadroTexto">
            <a:extLst>
              <a:ext uri="{FF2B5EF4-FFF2-40B4-BE49-F238E27FC236}">
                <a16:creationId xmlns:a16="http://schemas.microsoft.com/office/drawing/2014/main" id="{FBF48B89-4C11-410F-A7BA-04A42256E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835946"/>
            <a:ext cx="2275524" cy="3762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Acceso a la Información Pública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www.madrid.es/accesoinformacion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17" descr="C:\Users\ARMANDO\Desktop\SedeMiCarpeta_1400X351.jpg">
            <a:extLst>
              <a:ext uri="{FF2B5EF4-FFF2-40B4-BE49-F238E27FC236}">
                <a16:creationId xmlns:a16="http://schemas.microsoft.com/office/drawing/2014/main" id="{1A304666-CDC3-4E83-8346-97BD91430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6115074"/>
            <a:ext cx="1167003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7 Flecha abajo">
            <a:extLst>
              <a:ext uri="{FF2B5EF4-FFF2-40B4-BE49-F238E27FC236}">
                <a16:creationId xmlns:a16="http://schemas.microsoft.com/office/drawing/2014/main" id="{69F49406-F023-41B8-A111-BDE0E6155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885" y="5693588"/>
            <a:ext cx="594122" cy="378619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1 CuadroTexto">
            <a:extLst>
              <a:ext uri="{FF2B5EF4-FFF2-40B4-BE49-F238E27FC236}">
                <a16:creationId xmlns:a16="http://schemas.microsoft.com/office/drawing/2014/main" id="{953524C7-6FA7-409C-9DF9-8A5F156E8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370" y="5937655"/>
            <a:ext cx="3780234" cy="8540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49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</a:t>
            </a:r>
            <a:r>
              <a:rPr kumimoji="0" lang="es-ES" alt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transparencia</a:t>
            </a:r>
          </a:p>
        </p:txBody>
      </p:sp>
      <p:sp>
        <p:nvSpPr>
          <p:cNvPr id="6" name="13 Flecha abajo">
            <a:extLst>
              <a:ext uri="{FF2B5EF4-FFF2-40B4-BE49-F238E27FC236}">
                <a16:creationId xmlns:a16="http://schemas.microsoft.com/office/drawing/2014/main" id="{50E928B2-F333-4EE2-AB3E-CBD5E59FC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167" y="5655694"/>
            <a:ext cx="594122" cy="378619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7 Flecha abajo">
            <a:extLst>
              <a:ext uri="{FF2B5EF4-FFF2-40B4-BE49-F238E27FC236}">
                <a16:creationId xmlns:a16="http://schemas.microsoft.com/office/drawing/2014/main" id="{6C3E610B-7176-4AF5-A124-AE7C923DF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5070" y="5655697"/>
            <a:ext cx="594122" cy="378619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5 CuadroTexto">
            <a:extLst>
              <a:ext uri="{FF2B5EF4-FFF2-40B4-BE49-F238E27FC236}">
                <a16:creationId xmlns:a16="http://schemas.microsoft.com/office/drawing/2014/main" id="{76AE12F7-6913-4109-8EB5-910565710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" y="1857364"/>
            <a:ext cx="5214950" cy="1200329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Publicidad activa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Contenido (269) + webs auxiliares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7 Flecha abajo">
            <a:extLst>
              <a:ext uri="{FF2B5EF4-FFF2-40B4-BE49-F238E27FC236}">
                <a16:creationId xmlns:a16="http://schemas.microsoft.com/office/drawing/2014/main" id="{0DF94350-6B24-49D1-B519-D856B3F6A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687" y="5655697"/>
            <a:ext cx="594122" cy="378619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40EB845B-AB25-4AFF-A1A4-9AF94271AA9A}"/>
              </a:ext>
            </a:extLst>
          </p:cNvPr>
          <p:cNvSpPr txBox="1">
            <a:spLocks/>
          </p:cNvSpPr>
          <p:nvPr/>
        </p:nvSpPr>
        <p:spPr bwMode="auto">
          <a:xfrm>
            <a:off x="1523999" y="0"/>
            <a:ext cx="10086975" cy="10001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>
            <a:normAutofit fontScale="975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3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Transparencia en el Ayuntamiento de Madrid: webs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5 CuadroTexto">
            <a:extLst>
              <a:ext uri="{FF2B5EF4-FFF2-40B4-BE49-F238E27FC236}">
                <a16:creationId xmlns:a16="http://schemas.microsoft.com/office/drawing/2014/main" id="{4C4BF25E-E7B2-40BF-9B5A-3002FED3A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586" y="3187132"/>
            <a:ext cx="5214950" cy="2400657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Webs  auxiliares </a:t>
            </a:r>
            <a:endParaRPr kumimoji="0" lang="es-ES_tradnl" altLang="es-E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Agendas.Madrid.es</a:t>
            </a:r>
            <a:b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s-ES_tradnl" altLang="es-ES" sz="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Registrodelobbies.Madrid.es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TransparenciaPersonas.Madrid.es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Presupuestosabiertos.Madrid.es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_tradnl" altLang="es-ES" sz="800" b="1" dirty="0">
              <a:solidFill>
                <a:srgbClr val="FFFF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5FE5E18-8421-49EE-9447-FEEC3AB764A1}"/>
              </a:ext>
            </a:extLst>
          </p:cNvPr>
          <p:cNvSpPr/>
          <p:nvPr/>
        </p:nvSpPr>
        <p:spPr>
          <a:xfrm>
            <a:off x="2676099" y="571480"/>
            <a:ext cx="6822710" cy="88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1 Título">
            <a:extLst>
              <a:ext uri="{FF2B5EF4-FFF2-40B4-BE49-F238E27FC236}">
                <a16:creationId xmlns:a16="http://schemas.microsoft.com/office/drawing/2014/main" id="{9A929D03-C0C6-46CF-A101-5B464EA63F69}"/>
              </a:ext>
            </a:extLst>
          </p:cNvPr>
          <p:cNvSpPr txBox="1">
            <a:spLocks/>
          </p:cNvSpPr>
          <p:nvPr/>
        </p:nvSpPr>
        <p:spPr bwMode="auto">
          <a:xfrm>
            <a:off x="2667000" y="1009816"/>
            <a:ext cx="6858000" cy="41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3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5 CuadroTexto">
            <a:extLst>
              <a:ext uri="{FF2B5EF4-FFF2-40B4-BE49-F238E27FC236}">
                <a16:creationId xmlns:a16="http://schemas.microsoft.com/office/drawing/2014/main" id="{98700817-F434-4D40-A3CB-BD469CE20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" y="588530"/>
            <a:ext cx="7561910" cy="1200329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1) Portal de Transparencia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Transparencia.Madrid.es</a:t>
            </a:r>
            <a:endParaRPr kumimoji="0" lang="es-ES" altLang="es-E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5 CuadroTexto">
            <a:extLst>
              <a:ext uri="{FF2B5EF4-FFF2-40B4-BE49-F238E27FC236}">
                <a16:creationId xmlns:a16="http://schemas.microsoft.com/office/drawing/2014/main" id="{967DC860-43C7-4E51-A597-5786D0F12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8" y="571480"/>
            <a:ext cx="3927671" cy="5016758"/>
          </a:xfrm>
          <a:prstGeom prst="rect">
            <a:avLst/>
          </a:prstGeom>
          <a:solidFill>
            <a:srgbClr val="EB9445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2) Portal de Datos Abiertos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alt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Datos.Madrid.es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_tradnl" altLang="es-ES" b="1" dirty="0">
              <a:solidFill>
                <a:srgbClr val="FFFF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_tradnl" altLang="es-ES" b="1" dirty="0">
              <a:solidFill>
                <a:srgbClr val="FFFF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_tradnl" altLang="es-ES" b="1" dirty="0">
              <a:solidFill>
                <a:srgbClr val="FFFF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s-ES_tradnl" altLang="es-ES" b="1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Visualizadatos.madrid.es</a:t>
            </a: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1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1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altLang="es-E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26" name="Picture 2" descr="Resultado de imagen de cc by">
            <a:extLst>
              <a:ext uri="{FF2B5EF4-FFF2-40B4-BE49-F238E27FC236}">
                <a16:creationId xmlns:a16="http://schemas.microsoft.com/office/drawing/2014/main" id="{28C850F5-0ABD-BCDF-3AAD-1CC2CB34DF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8" t="13234"/>
          <a:stretch/>
        </p:blipFill>
        <p:spPr bwMode="auto">
          <a:xfrm>
            <a:off x="10783142" y="6385827"/>
            <a:ext cx="1206928" cy="47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97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6" grpId="0" animBg="1"/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1160475092"/>
              </p:ext>
            </p:extLst>
          </p:nvPr>
        </p:nvGraphicFramePr>
        <p:xfrm>
          <a:off x="223113" y="822994"/>
          <a:ext cx="11728742" cy="6035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1 Título">
            <a:extLst>
              <a:ext uri="{FF2B5EF4-FFF2-40B4-BE49-F238E27FC236}">
                <a16:creationId xmlns:a16="http://schemas.microsoft.com/office/drawing/2014/main" id="{CD26213E-BB1B-7740-64C3-8EF02CF15D81}"/>
              </a:ext>
            </a:extLst>
          </p:cNvPr>
          <p:cNvSpPr txBox="1">
            <a:spLocks/>
          </p:cNvSpPr>
          <p:nvPr/>
        </p:nvSpPr>
        <p:spPr>
          <a:xfrm>
            <a:off x="1450061" y="-20673"/>
            <a:ext cx="9144000" cy="7143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>
            <a:normAutofit fontScale="90000"/>
          </a:bodyPr>
          <a:lstStyle>
            <a:defPPr>
              <a:defRPr lang="es-ES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330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_tradnl" altLang="es-ES" dirty="0"/>
              <a:t>Portal de Datos Abiertos (Ayuntamiento de Madrid)</a:t>
            </a:r>
          </a:p>
        </p:txBody>
      </p:sp>
    </p:spTree>
    <p:extLst>
      <p:ext uri="{BB962C8B-B14F-4D97-AF65-F5344CB8AC3E}">
        <p14:creationId xmlns:p14="http://schemas.microsoft.com/office/powerpoint/2010/main" val="9485379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 descr="Imagen 1. Evolución de conjuntos de datos publicados al final de cada año.">
            <a:extLst>
              <a:ext uri="{FF2B5EF4-FFF2-40B4-BE49-F238E27FC236}">
                <a16:creationId xmlns:a16="http://schemas.microsoft.com/office/drawing/2014/main" id="{6AD2A82D-4A61-4E83-AE12-0558F3AAE7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473691"/>
              </p:ext>
            </p:extLst>
          </p:nvPr>
        </p:nvGraphicFramePr>
        <p:xfrm>
          <a:off x="200025" y="600075"/>
          <a:ext cx="11280775" cy="529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3034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B354D8-C1B4-DED3-8799-3C6742A451EF}"/>
              </a:ext>
            </a:extLst>
          </p:cNvPr>
          <p:cNvSpPr txBox="1"/>
          <p:nvPr/>
        </p:nvSpPr>
        <p:spPr>
          <a:xfrm>
            <a:off x="92804" y="166480"/>
            <a:ext cx="12183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¿Qué puedes encontrar en el Portal de Datos Abiertos de Madrid?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538BC31-1DEF-5F07-14D2-DEC822D63177}"/>
              </a:ext>
            </a:extLst>
          </p:cNvPr>
          <p:cNvCxnSpPr/>
          <p:nvPr/>
        </p:nvCxnSpPr>
        <p:spPr>
          <a:xfrm>
            <a:off x="0" y="6352674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4ACEC-722B-68DA-3E3C-3D5E25E39E9B}"/>
              </a:ext>
            </a:extLst>
          </p:cNvPr>
          <p:cNvSpPr txBox="1"/>
          <p:nvPr/>
        </p:nvSpPr>
        <p:spPr>
          <a:xfrm>
            <a:off x="125129" y="6442327"/>
            <a:ext cx="2482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https://datos.madrid.es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8490AF-1142-4EA6-0563-A2505950B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667" y="6408018"/>
            <a:ext cx="1947333" cy="449981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24DFF982-FBBF-8954-A771-A522FE3C2F73}"/>
              </a:ext>
            </a:extLst>
          </p:cNvPr>
          <p:cNvSpPr/>
          <p:nvPr/>
        </p:nvSpPr>
        <p:spPr>
          <a:xfrm>
            <a:off x="5278951" y="915557"/>
            <a:ext cx="5905500" cy="1362406"/>
          </a:xfrm>
          <a:prstGeom prst="rect">
            <a:avLst/>
          </a:prstGeom>
          <a:noFill/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EAA55CC-80A9-58DB-8C36-352E77DF7B35}"/>
              </a:ext>
            </a:extLst>
          </p:cNvPr>
          <p:cNvSpPr txBox="1"/>
          <p:nvPr/>
        </p:nvSpPr>
        <p:spPr>
          <a:xfrm>
            <a:off x="6309267" y="878030"/>
            <a:ext cx="4734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r>
              <a:rPr kumimoji="0" lang="es-ES" sz="6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628</a:t>
            </a:r>
            <a:r>
              <a:rPr kumimoji="0" lang="es-ES" sz="6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conjuntos de datos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1CEB4B0-D044-0BF7-7CED-13D485D3E854}"/>
              </a:ext>
            </a:extLst>
          </p:cNvPr>
          <p:cNvSpPr/>
          <p:nvPr/>
        </p:nvSpPr>
        <p:spPr>
          <a:xfrm>
            <a:off x="5648997" y="1775902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ráfico 11" descr="Carpeta abierta con relleno sólido">
            <a:extLst>
              <a:ext uri="{FF2B5EF4-FFF2-40B4-BE49-F238E27FC236}">
                <a16:creationId xmlns:a16="http://schemas.microsoft.com/office/drawing/2014/main" id="{C1F67472-757F-9584-62DC-52419BD83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356" y="1847861"/>
            <a:ext cx="758041" cy="758041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703BBB0A-D79F-025B-E944-57C391CE20F8}"/>
              </a:ext>
            </a:extLst>
          </p:cNvPr>
          <p:cNvSpPr/>
          <p:nvPr/>
        </p:nvSpPr>
        <p:spPr>
          <a:xfrm>
            <a:off x="6808656" y="1803111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ráfico 16" descr="Carpeta abierta con relleno sólido">
            <a:extLst>
              <a:ext uri="{FF2B5EF4-FFF2-40B4-BE49-F238E27FC236}">
                <a16:creationId xmlns:a16="http://schemas.microsoft.com/office/drawing/2014/main" id="{7149447B-8989-2D48-9516-F898082CE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5015" y="1875070"/>
            <a:ext cx="758041" cy="758041"/>
          </a:xfrm>
          <a:prstGeom prst="rect">
            <a:avLst/>
          </a:prstGeom>
        </p:spPr>
      </p:pic>
      <p:sp>
        <p:nvSpPr>
          <p:cNvPr id="20" name="Elipse 19">
            <a:extLst>
              <a:ext uri="{FF2B5EF4-FFF2-40B4-BE49-F238E27FC236}">
                <a16:creationId xmlns:a16="http://schemas.microsoft.com/office/drawing/2014/main" id="{591C60A5-04C4-2E03-79D5-E4E8694C5C42}"/>
              </a:ext>
            </a:extLst>
          </p:cNvPr>
          <p:cNvSpPr/>
          <p:nvPr/>
        </p:nvSpPr>
        <p:spPr>
          <a:xfrm>
            <a:off x="8736749" y="1800976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Gráfico 20" descr="Carpeta abierta con relleno sólido">
            <a:extLst>
              <a:ext uri="{FF2B5EF4-FFF2-40B4-BE49-F238E27FC236}">
                <a16:creationId xmlns:a16="http://schemas.microsoft.com/office/drawing/2014/main" id="{4BD5C5A8-0CC4-49A7-A140-F9F8E9DA1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3108" y="1872935"/>
            <a:ext cx="758041" cy="758041"/>
          </a:xfrm>
          <a:prstGeom prst="rect">
            <a:avLst/>
          </a:prstGeom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2A5C769D-237C-188B-0647-E9D8980F689A}"/>
              </a:ext>
            </a:extLst>
          </p:cNvPr>
          <p:cNvSpPr/>
          <p:nvPr/>
        </p:nvSpPr>
        <p:spPr>
          <a:xfrm>
            <a:off x="9919166" y="1767654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Gráfico 23" descr="Carpeta abierta con relleno sólido">
            <a:extLst>
              <a:ext uri="{FF2B5EF4-FFF2-40B4-BE49-F238E27FC236}">
                <a16:creationId xmlns:a16="http://schemas.microsoft.com/office/drawing/2014/main" id="{11BE3918-3BF5-E2E0-67D0-DB7CC372E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525" y="1829982"/>
            <a:ext cx="758041" cy="75804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A9F1920-4B31-9ED8-B6DD-F80133FF6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16" y="2730024"/>
            <a:ext cx="2407717" cy="3456623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D5C67DD6-3764-F89E-7F21-0A0E29E543AB}"/>
              </a:ext>
            </a:extLst>
          </p:cNvPr>
          <p:cNvSpPr txBox="1"/>
          <p:nvPr/>
        </p:nvSpPr>
        <p:spPr>
          <a:xfrm>
            <a:off x="1625087" y="3765648"/>
            <a:ext cx="897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Tráfico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3EC1201-0D2E-8AC1-4D17-F17DC51B3960}"/>
              </a:ext>
            </a:extLst>
          </p:cNvPr>
          <p:cNvSpPr txBox="1"/>
          <p:nvPr/>
        </p:nvSpPr>
        <p:spPr>
          <a:xfrm>
            <a:off x="1319747" y="4122810"/>
            <a:ext cx="1828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Calidad del aire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CCA4F93-E4FF-E45C-5A56-C0D6FD591180}"/>
              </a:ext>
            </a:extLst>
          </p:cNvPr>
          <p:cNvSpPr txBox="1"/>
          <p:nvPr/>
        </p:nvSpPr>
        <p:spPr>
          <a:xfrm>
            <a:off x="1146474" y="4529032"/>
            <a:ext cx="1787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Aparcamientos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9D329AB-5BD2-BBCE-0217-40D50D442595}"/>
              </a:ext>
            </a:extLst>
          </p:cNvPr>
          <p:cNvSpPr txBox="1"/>
          <p:nvPr/>
        </p:nvSpPr>
        <p:spPr>
          <a:xfrm>
            <a:off x="1252118" y="4983831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Incidencias</a:t>
            </a: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23CF206-CD23-9703-723E-9283602D9CA9}"/>
              </a:ext>
            </a:extLst>
          </p:cNvPr>
          <p:cNvSpPr txBox="1"/>
          <p:nvPr/>
        </p:nvSpPr>
        <p:spPr>
          <a:xfrm>
            <a:off x="1625087" y="5387452"/>
            <a:ext cx="2501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Datos meteorológicos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3226B99-5D79-FE52-498D-6D777F2750A2}"/>
              </a:ext>
            </a:extLst>
          </p:cNvPr>
          <p:cNvSpPr txBox="1"/>
          <p:nvPr/>
        </p:nvSpPr>
        <p:spPr>
          <a:xfrm>
            <a:off x="2004641" y="569381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…….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651DA70-79D7-1601-EE65-A2A2C2F2AFD7}"/>
              </a:ext>
            </a:extLst>
          </p:cNvPr>
          <p:cNvSpPr txBox="1"/>
          <p:nvPr/>
        </p:nvSpPr>
        <p:spPr>
          <a:xfrm>
            <a:off x="5699023" y="3305515"/>
            <a:ext cx="1534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Bibliotecas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49AB514-695E-A6F1-4BAE-A0B5CC7FEC25}"/>
              </a:ext>
            </a:extLst>
          </p:cNvPr>
          <p:cNvSpPr txBox="1"/>
          <p:nvPr/>
        </p:nvSpPr>
        <p:spPr>
          <a:xfrm>
            <a:off x="6391695" y="3716720"/>
            <a:ext cx="1067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Farolas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F14E439-DCA9-8ECE-D238-6B08D51F7BC7}"/>
              </a:ext>
            </a:extLst>
          </p:cNvPr>
          <p:cNvSpPr txBox="1"/>
          <p:nvPr/>
        </p:nvSpPr>
        <p:spPr>
          <a:xfrm>
            <a:off x="6749194" y="4204390"/>
            <a:ext cx="1185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Radares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93AD5C0-256A-98D1-4A40-57E42064501E}"/>
              </a:ext>
            </a:extLst>
          </p:cNvPr>
          <p:cNvSpPr txBox="1"/>
          <p:nvPr/>
        </p:nvSpPr>
        <p:spPr>
          <a:xfrm>
            <a:off x="7790036" y="3882728"/>
            <a:ext cx="1858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Presupuestos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85A3089-55DD-8A59-B212-6E2D973903D2}"/>
              </a:ext>
            </a:extLst>
          </p:cNvPr>
          <p:cNvSpPr txBox="1"/>
          <p:nvPr/>
        </p:nvSpPr>
        <p:spPr>
          <a:xfrm>
            <a:off x="7434934" y="4536442"/>
            <a:ext cx="1399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Contratos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3F09FB5-7087-F7FA-2AC8-3793813E1367}"/>
              </a:ext>
            </a:extLst>
          </p:cNvPr>
          <p:cNvSpPr txBox="1"/>
          <p:nvPr/>
        </p:nvSpPr>
        <p:spPr>
          <a:xfrm>
            <a:off x="5698620" y="5007563"/>
            <a:ext cx="264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Locales comerciales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89E257D-4AC9-894D-36A3-A53BC7D64AAA}"/>
              </a:ext>
            </a:extLst>
          </p:cNvPr>
          <p:cNvSpPr txBox="1"/>
          <p:nvPr/>
        </p:nvSpPr>
        <p:spPr>
          <a:xfrm>
            <a:off x="7723056" y="3137867"/>
            <a:ext cx="1898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Subvenciones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0478A57-14AB-47C9-F902-08C77F96BCBA}"/>
              </a:ext>
            </a:extLst>
          </p:cNvPr>
          <p:cNvSpPr txBox="1"/>
          <p:nvPr/>
        </p:nvSpPr>
        <p:spPr>
          <a:xfrm>
            <a:off x="6576948" y="3005169"/>
            <a:ext cx="1072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Padrón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7608868-10E1-4D10-92DB-FDC80E20C97E}"/>
              </a:ext>
            </a:extLst>
          </p:cNvPr>
          <p:cNvSpPr txBox="1"/>
          <p:nvPr/>
        </p:nvSpPr>
        <p:spPr>
          <a:xfrm>
            <a:off x="9888567" y="2991618"/>
            <a:ext cx="1282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Callejero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E864F43-53E0-D6E5-E708-4960C97BC341}"/>
              </a:ext>
            </a:extLst>
          </p:cNvPr>
          <p:cNvSpPr txBox="1"/>
          <p:nvPr/>
        </p:nvSpPr>
        <p:spPr>
          <a:xfrm>
            <a:off x="8581988" y="5128766"/>
            <a:ext cx="243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Centros culturales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987B3D5-1F46-F862-D497-E520194D3E47}"/>
              </a:ext>
            </a:extLst>
          </p:cNvPr>
          <p:cNvSpPr txBox="1"/>
          <p:nvPr/>
        </p:nvSpPr>
        <p:spPr>
          <a:xfrm>
            <a:off x="4372027" y="4178385"/>
            <a:ext cx="1939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Contenedores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28B93C1-EB19-09BA-B11B-B7A54DF62338}"/>
              </a:ext>
            </a:extLst>
          </p:cNvPr>
          <p:cNvSpPr txBox="1"/>
          <p:nvPr/>
        </p:nvSpPr>
        <p:spPr>
          <a:xfrm>
            <a:off x="4891003" y="3704608"/>
            <a:ext cx="1296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Residuos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B01668E-AD52-4E43-3CCC-21FFBE4C0974}"/>
              </a:ext>
            </a:extLst>
          </p:cNvPr>
          <p:cNvSpPr txBox="1"/>
          <p:nvPr/>
        </p:nvSpPr>
        <p:spPr>
          <a:xfrm>
            <a:off x="4514633" y="4644231"/>
            <a:ext cx="29098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Actividades culturales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1A297D2-7739-35DF-E290-C5B160B5D630}"/>
              </a:ext>
            </a:extLst>
          </p:cNvPr>
          <p:cNvSpPr txBox="1"/>
          <p:nvPr/>
        </p:nvSpPr>
        <p:spPr>
          <a:xfrm>
            <a:off x="9648943" y="5711610"/>
            <a:ext cx="2230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 muchos más”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2F9F85B-C1BC-52F1-D205-9265789ADDB1}"/>
              </a:ext>
            </a:extLst>
          </p:cNvPr>
          <p:cNvSpPr txBox="1"/>
          <p:nvPr/>
        </p:nvSpPr>
        <p:spPr>
          <a:xfrm>
            <a:off x="4677825" y="3005170"/>
            <a:ext cx="1202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Terrazas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B3850BE-6C9A-8D2F-301D-1B0346089105}"/>
              </a:ext>
            </a:extLst>
          </p:cNvPr>
          <p:cNvSpPr txBox="1"/>
          <p:nvPr/>
        </p:nvSpPr>
        <p:spPr>
          <a:xfrm>
            <a:off x="8878443" y="4279007"/>
            <a:ext cx="1540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Accidentes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8EB532B-1B80-F3D7-59C7-9990B05C40E3}"/>
              </a:ext>
            </a:extLst>
          </p:cNvPr>
          <p:cNvSpPr txBox="1"/>
          <p:nvPr/>
        </p:nvSpPr>
        <p:spPr>
          <a:xfrm>
            <a:off x="4599505" y="5367498"/>
            <a:ext cx="2325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Servicios sociales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AF44522-3D28-769A-A9B3-89F64820B9E4}"/>
              </a:ext>
            </a:extLst>
          </p:cNvPr>
          <p:cNvSpPr txBox="1"/>
          <p:nvPr/>
        </p:nvSpPr>
        <p:spPr>
          <a:xfrm>
            <a:off x="9821062" y="3900880"/>
            <a:ext cx="1264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Mayores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FC2E5EF-5CDC-8599-AA31-E4F78270258D}"/>
              </a:ext>
            </a:extLst>
          </p:cNvPr>
          <p:cNvSpPr txBox="1"/>
          <p:nvPr/>
        </p:nvSpPr>
        <p:spPr>
          <a:xfrm>
            <a:off x="10197511" y="3536347"/>
            <a:ext cx="1185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Parques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3BE3E58-5373-EDB6-E43D-9230171F6376}"/>
              </a:ext>
            </a:extLst>
          </p:cNvPr>
          <p:cNvSpPr txBox="1"/>
          <p:nvPr/>
        </p:nvSpPr>
        <p:spPr>
          <a:xfrm>
            <a:off x="10409324" y="4451483"/>
            <a:ext cx="1046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Multas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E8CC792-EE58-B045-C3A9-C04BB7081C17}"/>
              </a:ext>
            </a:extLst>
          </p:cNvPr>
          <p:cNvSpPr txBox="1"/>
          <p:nvPr/>
        </p:nvSpPr>
        <p:spPr>
          <a:xfrm>
            <a:off x="8798410" y="4727078"/>
            <a:ext cx="1471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Convenios</a:t>
            </a:r>
          </a:p>
        </p:txBody>
      </p:sp>
      <p:pic>
        <p:nvPicPr>
          <p:cNvPr id="54" name="Gráfico 53" descr="Reloj con relleno sólido">
            <a:extLst>
              <a:ext uri="{FF2B5EF4-FFF2-40B4-BE49-F238E27FC236}">
                <a16:creationId xmlns:a16="http://schemas.microsoft.com/office/drawing/2014/main" id="{A269AB00-1971-A9B4-2621-99BF091E7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5" y="1163500"/>
            <a:ext cx="1069602" cy="1069602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8E1AAA87-F8D5-8D27-E3CA-6E932B30E60E}"/>
              </a:ext>
            </a:extLst>
          </p:cNvPr>
          <p:cNvSpPr txBox="1"/>
          <p:nvPr/>
        </p:nvSpPr>
        <p:spPr>
          <a:xfrm>
            <a:off x="1022187" y="837053"/>
            <a:ext cx="2778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Datos en tiempo real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Diarios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Mensuales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Trimestrales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Anuales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A2ECD68-FD71-5766-7FDA-5FCE81F0F359}"/>
              </a:ext>
            </a:extLst>
          </p:cNvPr>
          <p:cNvSpPr txBox="1"/>
          <p:nvPr/>
        </p:nvSpPr>
        <p:spPr>
          <a:xfrm>
            <a:off x="7765863" y="5490257"/>
            <a:ext cx="1128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SAMUR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461FDD2-5A1E-EC27-7771-5D12DF1CE5F6}"/>
              </a:ext>
            </a:extLst>
          </p:cNvPr>
          <p:cNvSpPr txBox="1"/>
          <p:nvPr/>
        </p:nvSpPr>
        <p:spPr>
          <a:xfrm>
            <a:off x="8110461" y="3478701"/>
            <a:ext cx="1873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Mercamadrid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3AE38B8-AAEE-6E9A-32AA-EECF62709B48}"/>
              </a:ext>
            </a:extLst>
          </p:cNvPr>
          <p:cNvSpPr txBox="1"/>
          <p:nvPr/>
        </p:nvSpPr>
        <p:spPr>
          <a:xfrm>
            <a:off x="11201400" y="4053355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EMT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39B6E80-A676-8C6D-FAC4-B382C05C201A}"/>
              </a:ext>
            </a:extLst>
          </p:cNvPr>
          <p:cNvSpPr txBox="1"/>
          <p:nvPr/>
        </p:nvSpPr>
        <p:spPr>
          <a:xfrm>
            <a:off x="10790173" y="4814920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>
              <a:defRPr sz="2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M30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571DEA1-F921-8C9B-E794-E2598A340A5B}"/>
              </a:ext>
            </a:extLst>
          </p:cNvPr>
          <p:cNvSpPr txBox="1"/>
          <p:nvPr/>
        </p:nvSpPr>
        <p:spPr>
          <a:xfrm>
            <a:off x="5102148" y="5825002"/>
            <a:ext cx="1093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Cultura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B60B625-32E2-3525-4D31-B913BE22AD93}"/>
              </a:ext>
            </a:extLst>
          </p:cNvPr>
          <p:cNvSpPr txBox="1"/>
          <p:nvPr/>
        </p:nvSpPr>
        <p:spPr>
          <a:xfrm>
            <a:off x="6678376" y="5784240"/>
            <a:ext cx="121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Deporte</a:t>
            </a:r>
          </a:p>
        </p:txBody>
      </p:sp>
    </p:spTree>
    <p:extLst>
      <p:ext uri="{BB962C8B-B14F-4D97-AF65-F5344CB8AC3E}">
        <p14:creationId xmlns:p14="http://schemas.microsoft.com/office/powerpoint/2010/main" val="71276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40D9F0-5A56-1A37-F7C3-0A74EC5B3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5" y="0"/>
            <a:ext cx="11538229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1D1E53D-67E0-E0E4-1E7F-097360CE2F96}"/>
              </a:ext>
            </a:extLst>
          </p:cNvPr>
          <p:cNvSpPr/>
          <p:nvPr/>
        </p:nvSpPr>
        <p:spPr>
          <a:xfrm>
            <a:off x="8903856" y="6396335"/>
            <a:ext cx="3472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https://datos.madrid.es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9543"/>
      </p:ext>
    </p:extLst>
  </p:cSld>
  <p:clrMapOvr>
    <a:masterClrMapping/>
  </p:clrMapOvr>
  <p:transition>
    <p:cut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732705" y="1789103"/>
            <a:ext cx="7077075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117" name="11 CuadroTexto"/>
          <p:cNvSpPr txBox="1">
            <a:spLocks noChangeArrowheads="1"/>
          </p:cNvSpPr>
          <p:nvPr/>
        </p:nvSpPr>
        <p:spPr bwMode="auto">
          <a:xfrm>
            <a:off x="200256" y="1710681"/>
            <a:ext cx="721741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Aumentar el catálogo mes a mes 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0118" name="12 CuadroTexto"/>
          <p:cNvSpPr txBox="1">
            <a:spLocks noChangeArrowheads="1"/>
          </p:cNvSpPr>
          <p:nvPr/>
        </p:nvSpPr>
        <p:spPr bwMode="auto">
          <a:xfrm>
            <a:off x="200257" y="3144193"/>
            <a:ext cx="551997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Difundir lo que tenemos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0119" name="13 CuadroTexto"/>
          <p:cNvSpPr txBox="1">
            <a:spLocks noChangeArrowheads="1"/>
          </p:cNvSpPr>
          <p:nvPr/>
        </p:nvSpPr>
        <p:spPr bwMode="auto">
          <a:xfrm>
            <a:off x="200256" y="3820468"/>
            <a:ext cx="630301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Trabajar en normalizar los datos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0120" name="14 CuadroTexto"/>
          <p:cNvSpPr txBox="1">
            <a:spLocks noChangeArrowheads="1"/>
          </p:cNvSpPr>
          <p:nvPr/>
        </p:nvSpPr>
        <p:spPr bwMode="auto">
          <a:xfrm>
            <a:off x="210416" y="4549941"/>
            <a:ext cx="89392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Realizar p</a:t>
            </a: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royectos con otras ciudades y organismos</a:t>
            </a:r>
          </a:p>
        </p:txBody>
      </p:sp>
      <p:sp>
        <p:nvSpPr>
          <p:cNvPr id="90121" name="9 CuadroTexto"/>
          <p:cNvSpPr txBox="1">
            <a:spLocks noChangeArrowheads="1"/>
          </p:cNvSpPr>
          <p:nvPr/>
        </p:nvSpPr>
        <p:spPr bwMode="auto">
          <a:xfrm>
            <a:off x="200256" y="2391718"/>
            <a:ext cx="630301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Mejorar la calidad mes a mes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" name="Picture 2" descr="Resultado de imagen de actualiz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407" y="1581977"/>
            <a:ext cx="2736368" cy="191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4 CuadroTexto">
            <a:extLst>
              <a:ext uri="{FF2B5EF4-FFF2-40B4-BE49-F238E27FC236}">
                <a16:creationId xmlns:a16="http://schemas.microsoft.com/office/drawing/2014/main" id="{F160A03C-300B-469D-83FF-C30B67151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16" y="5292425"/>
            <a:ext cx="1006042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Colaborar con Universidades de Madrid y sector educativo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14 CuadroTexto">
            <a:extLst>
              <a:ext uri="{FF2B5EF4-FFF2-40B4-BE49-F238E27FC236}">
                <a16:creationId xmlns:a16="http://schemas.microsoft.com/office/drawing/2014/main" id="{C7B30096-635A-CD4E-C409-8072B8061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16" y="6034909"/>
            <a:ext cx="89392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Colaborar con los reutilizadores y ASEDIE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53708A0F-3B1A-C163-71BC-88D648B5BECD}"/>
              </a:ext>
            </a:extLst>
          </p:cNvPr>
          <p:cNvSpPr txBox="1">
            <a:spLocks/>
          </p:cNvSpPr>
          <p:nvPr/>
        </p:nvSpPr>
        <p:spPr>
          <a:xfrm>
            <a:off x="0" y="304713"/>
            <a:ext cx="12192000" cy="648089"/>
          </a:xfrm>
          <a:prstGeom prst="rect">
            <a:avLst/>
          </a:prstGeom>
          <a:solidFill>
            <a:srgbClr val="F7964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 una política de datos abiertos establecida que permite</a:t>
            </a:r>
          </a:p>
        </p:txBody>
      </p:sp>
      <p:sp>
        <p:nvSpPr>
          <p:cNvPr id="8" name="11 CuadroTexto">
            <a:extLst>
              <a:ext uri="{FF2B5EF4-FFF2-40B4-BE49-F238E27FC236}">
                <a16:creationId xmlns:a16="http://schemas.microsoft.com/office/drawing/2014/main" id="{8A280CDD-39B0-62E0-C1A8-171C4635D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55" y="1088438"/>
            <a:ext cx="1199174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 Agrupa la información en un conjunto de datos  facilidad de reutilización</a:t>
            </a:r>
            <a:endParaRPr kumimoji="0" lang="es-ES" altLang="es-ES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521797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35C2F798-204F-4EB3-816F-4D2603C360D3}"/>
              </a:ext>
            </a:extLst>
          </p:cNvPr>
          <p:cNvGrpSpPr/>
          <p:nvPr/>
        </p:nvGrpSpPr>
        <p:grpSpPr>
          <a:xfrm>
            <a:off x="428912" y="4616422"/>
            <a:ext cx="2057400" cy="2743200"/>
            <a:chOff x="4044950" y="1879600"/>
            <a:chExt cx="2743200" cy="2743200"/>
          </a:xfrm>
          <a:effectLst/>
          <a:scene3d>
            <a:camera prst="isometricOffAxis2Top"/>
            <a:lightRig rig="threePt" dir="t"/>
          </a:scene3d>
        </p:grpSpPr>
        <p:sp>
          <p:nvSpPr>
            <p:cNvPr id="3" name="Donut 1">
              <a:extLst>
                <a:ext uri="{FF2B5EF4-FFF2-40B4-BE49-F238E27FC236}">
                  <a16:creationId xmlns:a16="http://schemas.microsoft.com/office/drawing/2014/main" id="{0B4A1E11-7860-42F8-B3C8-F3551E044824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p3d z="857250" extrusionH="355600" prstMaterial="matte"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" name="Donut 2">
              <a:extLst>
                <a:ext uri="{FF2B5EF4-FFF2-40B4-BE49-F238E27FC236}">
                  <a16:creationId xmlns:a16="http://schemas.microsoft.com/office/drawing/2014/main" id="{37759324-EDD9-4BA1-87A6-F02EAF55DA52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rgbClr val="6499DA"/>
            </a:solidFill>
            <a:ln w="25400" cap="flat" cmpd="sng" algn="ctr">
              <a:noFill/>
              <a:prstDash val="solid"/>
            </a:ln>
            <a:effectLst/>
            <a:sp3d z="1701800" extrusionH="355600" prstMaterial="matte"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Donut 3">
              <a:extLst>
                <a:ext uri="{FF2B5EF4-FFF2-40B4-BE49-F238E27FC236}">
                  <a16:creationId xmlns:a16="http://schemas.microsoft.com/office/drawing/2014/main" id="{48C34935-C3D0-4FDE-AECB-E3BB30026053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  <a:sp3d z="2641600" extrusionH="355600" prstMaterial="matte"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Donut 4">
              <a:extLst>
                <a:ext uri="{FF2B5EF4-FFF2-40B4-BE49-F238E27FC236}">
                  <a16:creationId xmlns:a16="http://schemas.microsoft.com/office/drawing/2014/main" id="{5F27F11E-BF76-432B-9D86-7EA76B06B58D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donut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  <a:sp3d z="3556000" extrusionH="355600" prstMaterial="matte"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71E02D2F-21C7-4437-9CEA-371C71142F96}"/>
                </a:ext>
              </a:extLst>
            </p:cNvPr>
            <p:cNvSpPr/>
            <p:nvPr/>
          </p:nvSpPr>
          <p:spPr>
            <a:xfrm>
              <a:off x="4044950" y="1879600"/>
              <a:ext cx="2743200" cy="2743200"/>
            </a:xfrm>
            <a:prstGeom prst="ellipse">
              <a:avLst/>
            </a:prstGeom>
            <a:solidFill>
              <a:srgbClr val="FFFF66"/>
            </a:solidFill>
            <a:ln w="25400" cap="flat" cmpd="sng" algn="ctr">
              <a:noFill/>
              <a:prstDash val="solid"/>
            </a:ln>
            <a:effectLst/>
            <a:sp3d z="4445000" extrusionH="355600" prstMaterial="matte"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" name="58 Flecha derecha">
            <a:extLst>
              <a:ext uri="{FF2B5EF4-FFF2-40B4-BE49-F238E27FC236}">
                <a16:creationId xmlns:a16="http://schemas.microsoft.com/office/drawing/2014/main" id="{9C65D4F8-3F22-4839-8532-423147C9D0BA}"/>
              </a:ext>
            </a:extLst>
          </p:cNvPr>
          <p:cNvSpPr/>
          <p:nvPr/>
        </p:nvSpPr>
        <p:spPr>
          <a:xfrm>
            <a:off x="2739443" y="757727"/>
            <a:ext cx="482207" cy="484632"/>
          </a:xfrm>
          <a:prstGeom prst="rightArrow">
            <a:avLst/>
          </a:prstGeom>
          <a:solidFill>
            <a:srgbClr val="6499DA"/>
          </a:solidFill>
          <a:ln w="25400" cap="flat" cmpd="sng" algn="ctr">
            <a:solidFill>
              <a:srgbClr val="6499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59 Flecha derecha">
            <a:extLst>
              <a:ext uri="{FF2B5EF4-FFF2-40B4-BE49-F238E27FC236}">
                <a16:creationId xmlns:a16="http://schemas.microsoft.com/office/drawing/2014/main" id="{63946920-D382-469A-8E64-05F2C1658807}"/>
              </a:ext>
            </a:extLst>
          </p:cNvPr>
          <p:cNvSpPr/>
          <p:nvPr/>
        </p:nvSpPr>
        <p:spPr>
          <a:xfrm>
            <a:off x="2737733" y="1355837"/>
            <a:ext cx="482207" cy="484632"/>
          </a:xfrm>
          <a:prstGeom prst="rightArrow">
            <a:avLst/>
          </a:prstGeom>
          <a:solidFill>
            <a:srgbClr val="6499DA"/>
          </a:solidFill>
          <a:ln w="25400" cap="flat" cmpd="sng" algn="ctr">
            <a:solidFill>
              <a:srgbClr val="6499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61 Flecha derecha">
            <a:extLst>
              <a:ext uri="{FF2B5EF4-FFF2-40B4-BE49-F238E27FC236}">
                <a16:creationId xmlns:a16="http://schemas.microsoft.com/office/drawing/2014/main" id="{E35D81CB-D0B1-4869-B6BB-2E494741178E}"/>
              </a:ext>
            </a:extLst>
          </p:cNvPr>
          <p:cNvSpPr/>
          <p:nvPr/>
        </p:nvSpPr>
        <p:spPr>
          <a:xfrm>
            <a:off x="2737731" y="3339305"/>
            <a:ext cx="482207" cy="484632"/>
          </a:xfrm>
          <a:prstGeom prst="rightArrow">
            <a:avLst/>
          </a:prstGeom>
          <a:solidFill>
            <a:srgbClr val="6499DA"/>
          </a:solidFill>
          <a:ln w="25400" cap="flat" cmpd="sng" algn="ctr">
            <a:solidFill>
              <a:srgbClr val="6499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63 CuadroTexto">
            <a:extLst>
              <a:ext uri="{FF2B5EF4-FFF2-40B4-BE49-F238E27FC236}">
                <a16:creationId xmlns:a16="http://schemas.microsoft.com/office/drawing/2014/main" id="{CAF0E4AC-2F1A-44AD-A6C0-D378A12B885A}"/>
              </a:ext>
            </a:extLst>
          </p:cNvPr>
          <p:cNvSpPr txBox="1"/>
          <p:nvPr/>
        </p:nvSpPr>
        <p:spPr>
          <a:xfrm>
            <a:off x="3275227" y="757731"/>
            <a:ext cx="789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Conjuntos de datos publicados con millones de registros</a:t>
            </a:r>
          </a:p>
        </p:txBody>
      </p:sp>
      <p:sp>
        <p:nvSpPr>
          <p:cNvPr id="12" name="64 CuadroTexto">
            <a:extLst>
              <a:ext uri="{FF2B5EF4-FFF2-40B4-BE49-F238E27FC236}">
                <a16:creationId xmlns:a16="http://schemas.microsoft.com/office/drawing/2014/main" id="{81587CE9-4761-4171-88F5-4DBFCF3D90F5}"/>
              </a:ext>
            </a:extLst>
          </p:cNvPr>
          <p:cNvSpPr txBox="1"/>
          <p:nvPr/>
        </p:nvSpPr>
        <p:spPr>
          <a:xfrm>
            <a:off x="3273517" y="1355841"/>
            <a:ext cx="4259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Series históricas muy amplias</a:t>
            </a:r>
          </a:p>
        </p:txBody>
      </p:sp>
      <p:sp>
        <p:nvSpPr>
          <p:cNvPr id="13" name="66 CuadroTexto">
            <a:extLst>
              <a:ext uri="{FF2B5EF4-FFF2-40B4-BE49-F238E27FC236}">
                <a16:creationId xmlns:a16="http://schemas.microsoft.com/office/drawing/2014/main" id="{CD4A9823-4891-4286-A12A-A6BFC86B2CC2}"/>
              </a:ext>
            </a:extLst>
          </p:cNvPr>
          <p:cNvSpPr txBox="1"/>
          <p:nvPr/>
        </p:nvSpPr>
        <p:spPr>
          <a:xfrm>
            <a:off x="3273517" y="3339309"/>
            <a:ext cx="79167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Conjuntos de datos sobre temas muy interesantes:</a:t>
            </a:r>
            <a:b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Trafico, movilidad, peatones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Calidad del aire, meteorológicos y ruidos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Equipamientos, parques, jardines, mobiliario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Tejido económico: locales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Callejero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Calendario laboral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" name="59 Flecha derecha">
            <a:extLst>
              <a:ext uri="{FF2B5EF4-FFF2-40B4-BE49-F238E27FC236}">
                <a16:creationId xmlns:a16="http://schemas.microsoft.com/office/drawing/2014/main" id="{EE50B631-109B-4DB9-9F77-22FCE706E6FB}"/>
              </a:ext>
            </a:extLst>
          </p:cNvPr>
          <p:cNvSpPr/>
          <p:nvPr/>
        </p:nvSpPr>
        <p:spPr>
          <a:xfrm>
            <a:off x="2737733" y="2013529"/>
            <a:ext cx="482207" cy="484632"/>
          </a:xfrm>
          <a:prstGeom prst="rightArrow">
            <a:avLst/>
          </a:prstGeom>
          <a:solidFill>
            <a:srgbClr val="6499DA"/>
          </a:solidFill>
          <a:ln w="25400" cap="flat" cmpd="sng" algn="ctr">
            <a:solidFill>
              <a:srgbClr val="6499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64 CuadroTexto">
            <a:extLst>
              <a:ext uri="{FF2B5EF4-FFF2-40B4-BE49-F238E27FC236}">
                <a16:creationId xmlns:a16="http://schemas.microsoft.com/office/drawing/2014/main" id="{77F7FD48-0674-4213-BB20-ECF48303D7F7}"/>
              </a:ext>
            </a:extLst>
          </p:cNvPr>
          <p:cNvSpPr txBox="1"/>
          <p:nvPr/>
        </p:nvSpPr>
        <p:spPr>
          <a:xfrm>
            <a:off x="3273517" y="2013533"/>
            <a:ext cx="8594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Opción a colaborar o asesorar en TFM, TFG y otras cuestiones</a:t>
            </a:r>
          </a:p>
        </p:txBody>
      </p:sp>
      <p:sp>
        <p:nvSpPr>
          <p:cNvPr id="20" name="1 Título">
            <a:extLst>
              <a:ext uri="{FF2B5EF4-FFF2-40B4-BE49-F238E27FC236}">
                <a16:creationId xmlns:a16="http://schemas.microsoft.com/office/drawing/2014/main" id="{1A8057FD-5AC5-4CAF-A9DC-D0A8D7BDF227}"/>
              </a:ext>
            </a:extLst>
          </p:cNvPr>
          <p:cNvSpPr txBox="1">
            <a:spLocks/>
          </p:cNvSpPr>
          <p:nvPr/>
        </p:nvSpPr>
        <p:spPr>
          <a:xfrm>
            <a:off x="73891" y="90587"/>
            <a:ext cx="12118109" cy="648089"/>
          </a:xfrm>
          <a:prstGeom prst="rect">
            <a:avLst/>
          </a:prstGeom>
          <a:solidFill>
            <a:schemeClr val="accent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 ofrece el </a:t>
            </a:r>
            <a:r>
              <a:rPr kumimoji="0" lang="es-ES" sz="3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Ayto</a:t>
            </a:r>
            <a:r>
              <a:rPr kumimoji="0" lang="es-E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Madrid para la Universidad y el emprendimiento</a:t>
            </a:r>
          </a:p>
        </p:txBody>
      </p:sp>
      <p:sp>
        <p:nvSpPr>
          <p:cNvPr id="14" name="59 Flecha derecha">
            <a:extLst>
              <a:ext uri="{FF2B5EF4-FFF2-40B4-BE49-F238E27FC236}">
                <a16:creationId xmlns:a16="http://schemas.microsoft.com/office/drawing/2014/main" id="{AFCBBC32-35DD-F843-67A8-5A1597DFF6EC}"/>
              </a:ext>
            </a:extLst>
          </p:cNvPr>
          <p:cNvSpPr/>
          <p:nvPr/>
        </p:nvSpPr>
        <p:spPr>
          <a:xfrm>
            <a:off x="2737733" y="2694184"/>
            <a:ext cx="482207" cy="484632"/>
          </a:xfrm>
          <a:prstGeom prst="rightArrow">
            <a:avLst/>
          </a:prstGeom>
          <a:solidFill>
            <a:srgbClr val="6499DA"/>
          </a:solidFill>
          <a:ln w="25400" cap="flat" cmpd="sng" algn="ctr">
            <a:solidFill>
              <a:srgbClr val="6499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64 CuadroTexto">
            <a:extLst>
              <a:ext uri="{FF2B5EF4-FFF2-40B4-BE49-F238E27FC236}">
                <a16:creationId xmlns:a16="http://schemas.microsoft.com/office/drawing/2014/main" id="{ED890A8D-835F-C635-12F1-D69F8E11389B}"/>
              </a:ext>
            </a:extLst>
          </p:cNvPr>
          <p:cNvSpPr txBox="1"/>
          <p:nvPr/>
        </p:nvSpPr>
        <p:spPr>
          <a:xfrm>
            <a:off x="3273517" y="2694188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Charlas de difusión</a:t>
            </a:r>
          </a:p>
        </p:txBody>
      </p:sp>
    </p:spTree>
    <p:extLst>
      <p:ext uri="{BB962C8B-B14F-4D97-AF65-F5344CB8AC3E}">
        <p14:creationId xmlns:p14="http://schemas.microsoft.com/office/powerpoint/2010/main" val="210414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ector Loading Icon Futuristic Progress Bar: vector de stock (libre de  regalías) 1385189390 | Shutterstock">
            <a:extLst>
              <a:ext uri="{FF2B5EF4-FFF2-40B4-BE49-F238E27FC236}">
                <a16:creationId xmlns:a16="http://schemas.microsoft.com/office/drawing/2014/main" id="{92CD023D-43DE-46CE-1EA8-7047008DA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7"/>
          <a:stretch/>
        </p:blipFill>
        <p:spPr bwMode="auto">
          <a:xfrm>
            <a:off x="4561337" y="2300865"/>
            <a:ext cx="2858927" cy="283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>
            <a:extLst>
              <a:ext uri="{FF2B5EF4-FFF2-40B4-BE49-F238E27FC236}">
                <a16:creationId xmlns:a16="http://schemas.microsoft.com/office/drawing/2014/main" id="{3ACD2F91-B3B8-6681-F72B-D436A36F2E38}"/>
              </a:ext>
            </a:extLst>
          </p:cNvPr>
          <p:cNvSpPr txBox="1">
            <a:spLocks/>
          </p:cNvSpPr>
          <p:nvPr/>
        </p:nvSpPr>
        <p:spPr>
          <a:xfrm>
            <a:off x="226292" y="242987"/>
            <a:ext cx="11827164" cy="648089"/>
          </a:xfrm>
          <a:prstGeom prst="rect">
            <a:avLst/>
          </a:prstGeom>
          <a:solidFill>
            <a:srgbClr val="F7964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Nuevo portal de datos abiertos con tecnología CKAN</a:t>
            </a:r>
          </a:p>
        </p:txBody>
      </p:sp>
    </p:spTree>
    <p:extLst>
      <p:ext uri="{BB962C8B-B14F-4D97-AF65-F5344CB8AC3E}">
        <p14:creationId xmlns:p14="http://schemas.microsoft.com/office/powerpoint/2010/main" val="604157472"/>
      </p:ext>
    </p:extLst>
  </p:cSld>
  <p:clrMapOvr>
    <a:masterClrMapping/>
  </p:clrMapOvr>
  <p:transition>
    <p:cut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7EDF632-41D2-10D1-A6C8-F86B9D2A8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4296"/>
          <a:stretch/>
        </p:blipFill>
        <p:spPr>
          <a:xfrm>
            <a:off x="0" y="538441"/>
            <a:ext cx="12192000" cy="3297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8D53F97-AC29-9E06-D1DF-215B4FC9D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" y="3224212"/>
            <a:ext cx="11915775" cy="4095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A9CBB44-0EC9-319D-0027-DC09E7143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525" y="920461"/>
            <a:ext cx="904875" cy="3048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B04D000-F35D-64A3-B634-0E8B285FA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1475" y="906174"/>
            <a:ext cx="1695450" cy="3333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22208FF-EA0E-96A1-260C-B33D21B07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000" y="920461"/>
            <a:ext cx="1390650" cy="3238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AC5F1DB-6836-F606-D23B-600B201526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534" y="944273"/>
            <a:ext cx="1123950" cy="2762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B1979B4-E9A7-AF68-CF82-8C65428446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2368" y="944274"/>
            <a:ext cx="838200" cy="29527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727D406-B8C8-1EAD-FBDE-29FC8B88C47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4656" t="1" b="-3226"/>
          <a:stretch/>
        </p:blipFill>
        <p:spPr>
          <a:xfrm>
            <a:off x="9234160" y="948675"/>
            <a:ext cx="212434" cy="3048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D60CD22-86B9-96C3-7F1D-A002D375C0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7979" y="909057"/>
            <a:ext cx="866775" cy="3048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F3975A9-00A1-3DFD-58D2-7291BF104A93}"/>
              </a:ext>
            </a:extLst>
          </p:cNvPr>
          <p:cNvSpPr txBox="1"/>
          <p:nvPr/>
        </p:nvSpPr>
        <p:spPr>
          <a:xfrm>
            <a:off x="8624452" y="944273"/>
            <a:ext cx="660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Difusión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FBDF05C-B9B6-2D05-7E03-9AB8DD16CE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1213857"/>
            <a:ext cx="12192000" cy="248440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12E8D1A-FD04-77D3-9935-EF2D15E846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1366" y="1346726"/>
            <a:ext cx="1409700" cy="130492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816A351-72EA-4F54-144C-F262943BDD00}"/>
              </a:ext>
            </a:extLst>
          </p:cNvPr>
          <p:cNvSpPr txBox="1"/>
          <p:nvPr/>
        </p:nvSpPr>
        <p:spPr>
          <a:xfrm>
            <a:off x="7642368" y="1423623"/>
            <a:ext cx="225580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</a:t>
            </a:r>
            <a:r>
              <a:rPr kumimoji="0" lang="es-E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627</a:t>
            </a: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Conjuntos de datos</a:t>
            </a:r>
            <a:b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s-E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8.500</a:t>
            </a: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Ficheros</a:t>
            </a:r>
            <a:b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s-E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C17B8185-E082-D0A0-61CB-A28E721640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5835" y="2628177"/>
            <a:ext cx="438150" cy="2667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FF866223-5840-DF80-D6FA-DA6F715504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63796" y="2632795"/>
            <a:ext cx="438150" cy="2667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1616F7C-0518-3C53-CBD8-AEF38C408D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1766" y="2646656"/>
            <a:ext cx="438150" cy="266700"/>
          </a:xfrm>
          <a:prstGeom prst="rect">
            <a:avLst/>
          </a:prstGeom>
        </p:spPr>
      </p:pic>
      <p:pic>
        <p:nvPicPr>
          <p:cNvPr id="30" name="Imagen 29" descr="Una taza de cafe&#10;&#10;El contenido generado por IA puede ser incorrecto.">
            <a:extLst>
              <a:ext uri="{FF2B5EF4-FFF2-40B4-BE49-F238E27FC236}">
                <a16:creationId xmlns:a16="http://schemas.microsoft.com/office/drawing/2014/main" id="{E6F7C74D-18FA-60E2-D33E-71413C1988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826" y="4016516"/>
            <a:ext cx="2190750" cy="2190750"/>
          </a:xfrm>
          <a:prstGeom prst="rect">
            <a:avLst/>
          </a:prstGeom>
        </p:spPr>
      </p:pic>
      <p:pic>
        <p:nvPicPr>
          <p:cNvPr id="32" name="Imagen 31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D5D53CF3-08CF-F93E-4F8A-F0A2B3E97F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60" y="3993311"/>
            <a:ext cx="2190750" cy="2190750"/>
          </a:xfrm>
          <a:prstGeom prst="rect">
            <a:avLst/>
          </a:prstGeom>
        </p:spPr>
      </p:pic>
      <p:pic>
        <p:nvPicPr>
          <p:cNvPr id="34" name="Imagen 33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D52F49D7-0E9E-745E-2525-6E92C2AB87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83"/>
          <a:stretch/>
        </p:blipFill>
        <p:spPr>
          <a:xfrm>
            <a:off x="7337474" y="4016516"/>
            <a:ext cx="2192400" cy="219075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233F80B-EDFD-ABDC-082B-F67CC291008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0291" r="23368"/>
          <a:stretch/>
        </p:blipFill>
        <p:spPr>
          <a:xfrm>
            <a:off x="2509587" y="3991661"/>
            <a:ext cx="2215465" cy="2192400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40BA384A-0F08-4259-D79D-278C10AF5680}"/>
              </a:ext>
            </a:extLst>
          </p:cNvPr>
          <p:cNvSpPr txBox="1"/>
          <p:nvPr/>
        </p:nvSpPr>
        <p:spPr>
          <a:xfrm>
            <a:off x="171061" y="6140920"/>
            <a:ext cx="219075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Conoce el Portal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de Datos Abiertos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8614EAD-B334-61A0-A521-E3C99827247C}"/>
              </a:ext>
            </a:extLst>
          </p:cNvPr>
          <p:cNvSpPr txBox="1"/>
          <p:nvPr/>
        </p:nvSpPr>
        <p:spPr>
          <a:xfrm>
            <a:off x="2509586" y="6140920"/>
            <a:ext cx="2215464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Visualiza Madrid con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Datos Abiertos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AFB34AF-08D6-9F1A-B136-BDA584E913D2}"/>
              </a:ext>
            </a:extLst>
          </p:cNvPr>
          <p:cNvSpPr txBox="1"/>
          <p:nvPr/>
        </p:nvSpPr>
        <p:spPr>
          <a:xfrm>
            <a:off x="4911826" y="6184061"/>
            <a:ext cx="219075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Guía metodológica de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calidad de los datos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138FB05-AEE4-27CD-1A53-2C9C7EE4ECF2}"/>
              </a:ext>
            </a:extLst>
          </p:cNvPr>
          <p:cNvSpPr txBox="1"/>
          <p:nvPr/>
        </p:nvSpPr>
        <p:spPr>
          <a:xfrm>
            <a:off x="7337474" y="6207266"/>
            <a:ext cx="219075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Recibe nuestro boletín de noticias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D31E3927-81B3-34CB-B3DE-9E18D165489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404" r="4068" b="11065"/>
          <a:stretch/>
        </p:blipFill>
        <p:spPr>
          <a:xfrm>
            <a:off x="9641475" y="4004801"/>
            <a:ext cx="2192400" cy="2202465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F1A55C3C-0155-590A-F2BC-4402E4AFB78C}"/>
              </a:ext>
            </a:extLst>
          </p:cNvPr>
          <p:cNvSpPr txBox="1"/>
          <p:nvPr/>
        </p:nvSpPr>
        <p:spPr>
          <a:xfrm>
            <a:off x="9643529" y="6177872"/>
            <a:ext cx="219075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ExtraBold" panose="020F0502020204030204" pitchFamily="34" charset="0"/>
                <a:ea typeface="+mn-ea"/>
                <a:cs typeface="+mn-cs"/>
              </a:rPr>
              <a:t>Portal de Transparencia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ExtraBold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4E3297C2-E403-78AE-754F-121ACE8F1095}"/>
              </a:ext>
            </a:extLst>
          </p:cNvPr>
          <p:cNvSpPr txBox="1">
            <a:spLocks/>
          </p:cNvSpPr>
          <p:nvPr/>
        </p:nvSpPr>
        <p:spPr>
          <a:xfrm>
            <a:off x="10322354" y="-28830"/>
            <a:ext cx="1869646" cy="648089"/>
          </a:xfrm>
          <a:prstGeom prst="rect">
            <a:avLst/>
          </a:prstGeom>
          <a:solidFill>
            <a:srgbClr val="F7964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Prototipo</a:t>
            </a:r>
          </a:p>
        </p:txBody>
      </p:sp>
    </p:spTree>
    <p:extLst>
      <p:ext uri="{BB962C8B-B14F-4D97-AF65-F5344CB8AC3E}">
        <p14:creationId xmlns:p14="http://schemas.microsoft.com/office/powerpoint/2010/main" val="1601296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045B84E-E196-2ED3-8F48-D21B17E01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996374"/>
              </p:ext>
            </p:extLst>
          </p:nvPr>
        </p:nvGraphicFramePr>
        <p:xfrm>
          <a:off x="838200" y="533400"/>
          <a:ext cx="11350752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ckan · GitHub">
            <a:extLst>
              <a:ext uri="{FF2B5EF4-FFF2-40B4-BE49-F238E27FC236}">
                <a16:creationId xmlns:a16="http://schemas.microsoft.com/office/drawing/2014/main" id="{8CCF735F-7631-A7E7-9FDE-00B47046B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12873"/>
            <a:ext cx="14001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1 Título">
            <a:extLst>
              <a:ext uri="{FF2B5EF4-FFF2-40B4-BE49-F238E27FC236}">
                <a16:creationId xmlns:a16="http://schemas.microsoft.com/office/drawing/2014/main" id="{CF308A0D-CC82-3CE4-92A4-1A19E99A4B16}"/>
              </a:ext>
            </a:extLst>
          </p:cNvPr>
          <p:cNvSpPr txBox="1">
            <a:spLocks/>
          </p:cNvSpPr>
          <p:nvPr/>
        </p:nvSpPr>
        <p:spPr>
          <a:xfrm>
            <a:off x="10076873" y="-28830"/>
            <a:ext cx="2115127" cy="648089"/>
          </a:xfrm>
          <a:prstGeom prst="rect">
            <a:avLst/>
          </a:prstGeom>
          <a:solidFill>
            <a:srgbClr val="F7964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Beneficios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58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ratis Hombre Y Mujer Junto A La Mesa Foto de stock">
            <a:extLst>
              <a:ext uri="{FF2B5EF4-FFF2-40B4-BE49-F238E27FC236}">
                <a16:creationId xmlns:a16="http://schemas.microsoft.com/office/drawing/2014/main" id="{E7F1531C-B112-C738-5ADD-B8847C93F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843088"/>
            <a:ext cx="47625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B5E242A-A355-D98F-13AE-7B5352B3B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55" y="5667374"/>
            <a:ext cx="1652796" cy="1190625"/>
          </a:xfrm>
          <a:prstGeom prst="rect">
            <a:avLst/>
          </a:prstGeom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59F14A52-FDC4-3355-ACAD-0099B202A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618" y="5467349"/>
            <a:ext cx="2052802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EAFC7E24-2518-7DF0-0A78-6A8F8D5AB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5440043"/>
            <a:ext cx="2019300" cy="124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43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01BC40-BD93-A3E2-A0A1-F9EB6C16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081921"/>
            <a:ext cx="9152484" cy="5614153"/>
          </a:xfrm>
          <a:prstGeom prst="rect">
            <a:avLst/>
          </a:prstGeom>
        </p:spPr>
      </p:pic>
      <p:sp>
        <p:nvSpPr>
          <p:cNvPr id="4" name="1 Título">
            <a:extLst>
              <a:ext uri="{FF2B5EF4-FFF2-40B4-BE49-F238E27FC236}">
                <a16:creationId xmlns:a16="http://schemas.microsoft.com/office/drawing/2014/main" id="{8A929329-2858-7923-968F-6033A84695D9}"/>
              </a:ext>
            </a:extLst>
          </p:cNvPr>
          <p:cNvSpPr txBox="1">
            <a:spLocks/>
          </p:cNvSpPr>
          <p:nvPr/>
        </p:nvSpPr>
        <p:spPr>
          <a:xfrm>
            <a:off x="73891" y="90587"/>
            <a:ext cx="12118109" cy="1071463"/>
          </a:xfrm>
          <a:prstGeom prst="rect">
            <a:avLst/>
          </a:prstGeom>
          <a:solidFill>
            <a:schemeClr val="accent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Manifiesto por los datos abiertos reutilizables: </a:t>
            </a:r>
            <a:br>
              <a:rPr kumimoji="0" lang="es-E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s-ES" sz="3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Ayto</a:t>
            </a:r>
            <a:r>
              <a:rPr kumimoji="0" lang="es-E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Madrid, primera administración en adherirse</a:t>
            </a:r>
          </a:p>
        </p:txBody>
      </p:sp>
    </p:spTree>
    <p:extLst>
      <p:ext uri="{BB962C8B-B14F-4D97-AF65-F5344CB8AC3E}">
        <p14:creationId xmlns:p14="http://schemas.microsoft.com/office/powerpoint/2010/main" val="3473410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usión en internet - Mono Digital">
            <a:extLst>
              <a:ext uri="{FF2B5EF4-FFF2-40B4-BE49-F238E27FC236}">
                <a16:creationId xmlns:a16="http://schemas.microsoft.com/office/drawing/2014/main" id="{460B5430-A9FA-4DAF-8D73-6376A918C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655" y="828675"/>
            <a:ext cx="5066689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9EDC59C-60EB-139C-D6D1-A09E711CE393}"/>
              </a:ext>
            </a:extLst>
          </p:cNvPr>
          <p:cNvSpPr txBox="1"/>
          <p:nvPr/>
        </p:nvSpPr>
        <p:spPr>
          <a:xfrm>
            <a:off x="1056443" y="5915681"/>
            <a:ext cx="10511161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/>
                <a:cs typeface="+mn-cs"/>
              </a:rPr>
              <a:t>La difusión, formación y escucha </a:t>
            </a: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</a:t>
            </a: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/>
                <a:cs typeface="+mn-cs"/>
              </a:rPr>
              <a:t> parte nuclear de nuestro trabajo</a:t>
            </a:r>
          </a:p>
        </p:txBody>
      </p:sp>
    </p:spTree>
    <p:extLst>
      <p:ext uri="{BB962C8B-B14F-4D97-AF65-F5344CB8AC3E}">
        <p14:creationId xmlns:p14="http://schemas.microsoft.com/office/powerpoint/2010/main" val="856044115"/>
      </p:ext>
    </p:extLst>
  </p:cSld>
  <p:clrMapOvr>
    <a:masterClrMapping/>
  </p:clrMapOvr>
  <p:transition advTm="5000">
    <p:cut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018" y="1175679"/>
            <a:ext cx="5029055" cy="4956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5892800" y="6396335"/>
            <a:ext cx="629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https://datos.madrid.es/RegistroReutilizacion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20F92AFD-11D2-59D0-22E1-B4046C8CA08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8109" cy="1071463"/>
          </a:xfrm>
          <a:prstGeom prst="rect">
            <a:avLst/>
          </a:prstGeom>
          <a:solidFill>
            <a:srgbClr val="F79646"/>
          </a:solidFill>
        </p:spPr>
        <p:txBody>
          <a:bodyPr/>
          <a:lstStyle>
            <a:defPPr>
              <a:defRPr lang="es-E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 eaLnBrk="1" hangingPunct="1">
              <a:defRPr sz="3600">
                <a:latin typeface="Calibri" pitchFamily="34" charset="0"/>
              </a:defRPr>
            </a:lvl2pPr>
            <a:lvl3pPr algn="ctr" eaLnBrk="1" hangingPunct="1">
              <a:defRPr sz="3600">
                <a:latin typeface="Calibri" pitchFamily="34" charset="0"/>
              </a:defRPr>
            </a:lvl3pPr>
            <a:lvl4pPr algn="ctr" eaLnBrk="1" hangingPunct="1">
              <a:defRPr sz="3600">
                <a:latin typeface="Calibri" pitchFamily="34" charset="0"/>
              </a:defRPr>
            </a:lvl4pPr>
            <a:lvl5pPr algn="ctr" eaLnBrk="1" hangingPunct="1">
              <a:defRPr sz="36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latin typeface="Calibri" pitchFamily="34" charset="0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¿Cómo puedo estar informado de las novedades del Portal de Datos Abiertos del Ayuntamiento de Madrid?</a:t>
            </a:r>
          </a:p>
        </p:txBody>
      </p:sp>
    </p:spTree>
    <p:extLst>
      <p:ext uri="{BB962C8B-B14F-4D97-AF65-F5344CB8AC3E}">
        <p14:creationId xmlns:p14="http://schemas.microsoft.com/office/powerpoint/2010/main" val="55277418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3"/>
            <a:extLst>
              <a:ext uri="{FF2B5EF4-FFF2-40B4-BE49-F238E27FC236}">
                <a16:creationId xmlns:a16="http://schemas.microsoft.com/office/drawing/2014/main" id="{99C9A500-1C73-D8C1-673A-3E5422260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847725"/>
            <a:ext cx="10267950" cy="51625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4920DFC-E732-DEBA-6EF7-AF6935E07FE0}"/>
              </a:ext>
            </a:extLst>
          </p:cNvPr>
          <p:cNvSpPr txBox="1"/>
          <p:nvPr/>
        </p:nvSpPr>
        <p:spPr>
          <a:xfrm>
            <a:off x="1659835" y="6368534"/>
            <a:ext cx="937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5"/>
              </a:rPr>
              <a:t>Conoce el Portal de datos abiertos - Portal de datos abiertos del Ayuntamiento de Madrid</a:t>
            </a:r>
            <a:endParaRPr lang="es-E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940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7000" r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;p2"/>
          <p:cNvSpPr/>
          <p:nvPr/>
        </p:nvSpPr>
        <p:spPr>
          <a:xfrm rot="5400000" flipH="1">
            <a:off x="7701275" y="-42338"/>
            <a:ext cx="3688200" cy="2246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2;p2"/>
          <p:cNvSpPr/>
          <p:nvPr/>
        </p:nvSpPr>
        <p:spPr>
          <a:xfrm rot="5400000" flipH="1">
            <a:off x="825926" y="4554028"/>
            <a:ext cx="3573900" cy="2177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3;p2"/>
          <p:cNvSpPr/>
          <p:nvPr/>
        </p:nvSpPr>
        <p:spPr>
          <a:xfrm rot="-5400000" flipH="1">
            <a:off x="1095456" y="4137860"/>
            <a:ext cx="2195100" cy="1338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;p2"/>
          <p:cNvSpPr/>
          <p:nvPr/>
        </p:nvSpPr>
        <p:spPr>
          <a:xfrm rot="-5400000" flipH="1">
            <a:off x="2087748" y="3375126"/>
            <a:ext cx="1518900" cy="9255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;p2"/>
          <p:cNvSpPr/>
          <p:nvPr/>
        </p:nvSpPr>
        <p:spPr>
          <a:xfrm rot="5400000">
            <a:off x="1270302" y="3567392"/>
            <a:ext cx="1297200" cy="789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;p2"/>
          <p:cNvSpPr/>
          <p:nvPr/>
        </p:nvSpPr>
        <p:spPr>
          <a:xfrm rot="-5400000">
            <a:off x="1331402" y="3257421"/>
            <a:ext cx="985800" cy="600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7;p2"/>
          <p:cNvSpPr/>
          <p:nvPr/>
        </p:nvSpPr>
        <p:spPr>
          <a:xfrm rot="5400000" flipH="1">
            <a:off x="8741675" y="1270025"/>
            <a:ext cx="2394600" cy="1458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8;p2"/>
          <p:cNvSpPr/>
          <p:nvPr/>
        </p:nvSpPr>
        <p:spPr>
          <a:xfrm rot="-5400000">
            <a:off x="9446499" y="2744289"/>
            <a:ext cx="1518600" cy="925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9;p2"/>
          <p:cNvSpPr/>
          <p:nvPr/>
        </p:nvSpPr>
        <p:spPr>
          <a:xfrm rot="-5400000" flipH="1">
            <a:off x="8839902" y="2802275"/>
            <a:ext cx="1027800" cy="6261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0;p2"/>
          <p:cNvSpPr/>
          <p:nvPr/>
        </p:nvSpPr>
        <p:spPr>
          <a:xfrm rot="-5400000" flipH="1">
            <a:off x="7861825" y="578875"/>
            <a:ext cx="1520100" cy="9261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12;p17" descr="10.jpg"/>
          <p:cNvPicPr preferRelativeResize="0"/>
          <p:nvPr/>
        </p:nvPicPr>
        <p:blipFill rotWithShape="1">
          <a:blip r:embed="rId3">
            <a:alphaModFix/>
          </a:blip>
          <a:srcRect l="22840" t="14463" r="22840" b="19038"/>
          <a:stretch/>
        </p:blipFill>
        <p:spPr>
          <a:xfrm rot="-5400000">
            <a:off x="1017900" y="506025"/>
            <a:ext cx="3251400" cy="2239200"/>
          </a:xfrm>
          <a:prstGeom prst="parallelogram">
            <a:avLst>
              <a:gd name="adj" fmla="val 63779"/>
            </a:avLst>
          </a:prstGeom>
          <a:noFill/>
          <a:ln>
            <a:noFill/>
          </a:ln>
        </p:spPr>
      </p:pic>
      <p:sp>
        <p:nvSpPr>
          <p:cNvPr id="2" name="CuadroTexto 1"/>
          <p:cNvSpPr txBox="1"/>
          <p:nvPr/>
        </p:nvSpPr>
        <p:spPr>
          <a:xfrm>
            <a:off x="4747752" y="2946684"/>
            <a:ext cx="3417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GRACIAS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5341110-B7D2-6D8A-6D50-084E12FCABF2}"/>
              </a:ext>
            </a:extLst>
          </p:cNvPr>
          <p:cNvSpPr txBox="1">
            <a:spLocks noChangeArrowheads="1"/>
          </p:cNvSpPr>
          <p:nvPr/>
        </p:nvSpPr>
        <p:spPr>
          <a:xfrm>
            <a:off x="4088804" y="189764"/>
            <a:ext cx="3744416" cy="1470025"/>
          </a:xfrm>
          <a:prstGeom prst="rect">
            <a:avLst/>
          </a:prstGeom>
        </p:spPr>
        <p:txBody>
          <a:bodyPr rtlCol="0"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datos</a:t>
            </a:r>
            <a:r>
              <a:rPr kumimoji="0" lang="es-ES" altLang="es-E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abiertos</a:t>
            </a:r>
            <a:endParaRPr kumimoji="0" lang="es-ES" altLang="es-E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43A33A2-4B69-254D-8820-9E78A0602E91}"/>
              </a:ext>
            </a:extLst>
          </p:cNvPr>
          <p:cNvSpPr txBox="1"/>
          <p:nvPr/>
        </p:nvSpPr>
        <p:spPr>
          <a:xfrm>
            <a:off x="4378253" y="4762338"/>
            <a:ext cx="4975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Dirección General de Transparencia y Calidad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Ayuntamiento de Madrid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Literatura académica 16 × 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74_TF03431380_TF03431380.potx" id="{9C759DF4-5D22-4947-AC84-0622EEA47A41}" vid="{3C637098-65C7-40E1-B206-DD97FD8DB6F6}"/>
    </a:ext>
  </a:extLst>
</a:theme>
</file>

<file path=ppt/theme/theme2.xml><?xml version="1.0" encoding="utf-8"?>
<a:theme xmlns:a="http://schemas.openxmlformats.org/drawingml/2006/main" name="Presentaciones_2016_V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ones_2016_V01.potx" id="{1EFB79C3-B0E8-434C-99DC-BFE4AF653A43}" vid="{9F0EA8B3-B9CF-40C5-9718-01FEF4A38E57}"/>
    </a:ext>
  </a:extLst>
</a:theme>
</file>

<file path=ppt/theme/theme3.xml><?xml version="1.0" encoding="utf-8"?>
<a:theme xmlns:a="http://schemas.openxmlformats.org/drawingml/2006/main" name="5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Esri_Corporate_Template-Dark">
  <a:themeElements>
    <a:clrScheme name="Esri 2023 with lt blue links">
      <a:dk1>
        <a:srgbClr val="000000"/>
      </a:dk1>
      <a:lt1>
        <a:srgbClr val="FFFFFF"/>
      </a:lt1>
      <a:dk2>
        <a:srgbClr val="007AC2"/>
      </a:dk2>
      <a:lt2>
        <a:srgbClr val="FFFF96"/>
      </a:lt2>
      <a:accent1>
        <a:srgbClr val="35AC46"/>
      </a:accent1>
      <a:accent2>
        <a:srgbClr val="AAD04B"/>
      </a:accent2>
      <a:accent3>
        <a:srgbClr val="F89927"/>
      </a:accent3>
      <a:accent4>
        <a:srgbClr val="00B9F2"/>
      </a:accent4>
      <a:accent5>
        <a:srgbClr val="8E499B"/>
      </a:accent5>
      <a:accent6>
        <a:srgbClr val="BE9969"/>
      </a:accent6>
      <a:hlink>
        <a:srgbClr val="C0E8FF"/>
      </a:hlink>
      <a:folHlink>
        <a:srgbClr val="81D0FF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ABF5"/>
        </a:solidFill>
        <a:ln w="19050">
          <a:solidFill>
            <a:srgbClr val="FFFFFF">
              <a:alpha val="41961"/>
            </a:srgbClr>
          </a:solidFill>
          <a:miter lim="800000"/>
          <a:headEnd type="none" w="med" len="med"/>
          <a:tailEnd type="none" w="med" len="med"/>
        </a:ln>
        <a:effectLst/>
      </a:spPr>
      <a:bodyPr vert="horz" wrap="square" lIns="0" tIns="0" rIns="0" bIns="0" numCol="1" rtlCol="0" anchor="ctr" anchorCtr="1" compatLnSpc="1">
        <a:prstTxWarp prst="textNoShape">
          <a:avLst/>
        </a:prstTxWarp>
        <a:noAutofit/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dirty="0">
            <a:solidFill>
              <a:prstClr val="white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50800" cap="flat" cmpd="sng" algn="ctr">
          <a:solidFill>
            <a:srgbClr val="00B0F0"/>
          </a:solidFill>
          <a:prstDash val="solid"/>
          <a:round/>
          <a:headEnd type="none" w="med" len="med"/>
          <a:tailEnd type="none"/>
        </a:ln>
        <a:effectLst>
          <a:outerShdw blurRad="25400" algn="ctr" rotWithShape="0">
            <a:schemeClr val="accent4">
              <a:lumMod val="20000"/>
              <a:lumOff val="80000"/>
              <a:alpha val="41000"/>
            </a:schemeClr>
          </a:outerShdw>
        </a:effectLst>
      </a:spPr>
      <a:bodyPr/>
      <a:lstStyle/>
    </a:lnDef>
    <a:txDef>
      <a:spPr>
        <a:noFill/>
        <a:effectLst/>
      </a:spPr>
      <a:bodyPr wrap="none" lIns="0" tIns="0" rIns="0" bIns="0" rtlCol="0">
        <a:noAutofit/>
      </a:bodyPr>
      <a:lstStyle>
        <a:defPPr algn="l" eaLnBrk="0" hangingPunct="0">
          <a:defRPr sz="1400" dirty="0" err="1" smtClean="0"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sri-Corporate-Template-Dark.pptx" id="{6DD2F38A-655A-B54D-A259-8C4F62CCF5F4}" vid="{BB93D1D3-2A82-0143-877B-FFC894BF5FB9}"/>
    </a:ext>
  </a:extLst>
</a:theme>
</file>

<file path=ppt/theme/theme8.xml><?xml version="1.0" encoding="utf-8"?>
<a:theme xmlns:a="http://schemas.openxmlformats.org/drawingml/2006/main" name="6_Presentaciones_2016_V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ones_2016_V01.potx" id="{1EFB79C3-B0E8-434C-99DC-BFE4AF653A43}" vid="{9F0EA8B3-B9CF-40C5-9718-01FEF4A38E57}"/>
    </a:ext>
  </a:extLst>
</a:theme>
</file>

<file path=ppt/theme/theme9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5B23D3514027478E35B820CACD5D16" ma:contentTypeVersion="15" ma:contentTypeDescription="Crear nuevo documento." ma:contentTypeScope="" ma:versionID="a12790f2dc5c0a63d0aa1b92e236444e">
  <xsd:schema xmlns:xsd="http://www.w3.org/2001/XMLSchema" xmlns:xs="http://www.w3.org/2001/XMLSchema" xmlns:p="http://schemas.microsoft.com/office/2006/metadata/properties" xmlns:ns2="0bcc0491-dd07-4174-9fa4-f6c4fe8e6490" xmlns:ns3="ba7c4177-3efd-447d-9fbe-c35463c1b0e0" targetNamespace="http://schemas.microsoft.com/office/2006/metadata/properties" ma:root="true" ma:fieldsID="f8563cd8324f6d2fcdb584eaf9521134" ns2:_="" ns3:_="">
    <xsd:import namespace="0bcc0491-dd07-4174-9fa4-f6c4fe8e6490"/>
    <xsd:import namespace="ba7c4177-3efd-447d-9fbe-c35463c1b0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cc0491-dd07-4174-9fa4-f6c4fe8e64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7346039f-02cc-4ba4-a79b-23b6212a2d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7c4177-3efd-447d-9fbe-c35463c1b0e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517057e-2ab1-4c29-9e8f-6b4e981d7305}" ma:internalName="TaxCatchAll" ma:showField="CatchAllData" ma:web="ba7c4177-3efd-447d-9fbe-c35463c1b0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bcc0491-dd07-4174-9fa4-f6c4fe8e6490">
      <Terms xmlns="http://schemas.microsoft.com/office/infopath/2007/PartnerControls"/>
    </lcf76f155ced4ddcb4097134ff3c332f>
    <TaxCatchAll xmlns="ba7c4177-3efd-447d-9fbe-c35463c1b0e0" xsi:nil="true"/>
  </documentManagement>
</p:properties>
</file>

<file path=customXml/itemProps1.xml><?xml version="1.0" encoding="utf-8"?>
<ds:datastoreItem xmlns:ds="http://schemas.openxmlformats.org/officeDocument/2006/customXml" ds:itemID="{ADABC0CD-D9DB-4A89-AABB-419C1D6AD2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88E8B8-0665-4FF4-832B-85A464049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cc0491-dd07-4174-9fa4-f6c4fe8e6490"/>
    <ds:schemaRef ds:uri="ba7c4177-3efd-447d-9fbe-c35463c1b0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D41479-01DF-4209-B06A-D9CA8E714EDB}">
  <ds:schemaRefs>
    <ds:schemaRef ds:uri="http://schemas.microsoft.com/office/2006/metadata/properties"/>
    <ds:schemaRef ds:uri="http://schemas.microsoft.com/office/infopath/2007/PartnerControls"/>
    <ds:schemaRef ds:uri="0bcc0491-dd07-4174-9fa4-f6c4fe8e6490"/>
    <ds:schemaRef ds:uri="ba7c4177-3efd-447d-9fbe-c35463c1b0e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692</Words>
  <Application>Microsoft Office PowerPoint</Application>
  <PresentationFormat>Panorámica</PresentationFormat>
  <Paragraphs>175</Paragraphs>
  <Slides>21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10</vt:i4>
      </vt:variant>
      <vt:variant>
        <vt:lpstr>Títulos de diapositiva</vt:lpstr>
      </vt:variant>
      <vt:variant>
        <vt:i4>21</vt:i4>
      </vt:variant>
    </vt:vector>
  </HeadingPairs>
  <TitlesOfParts>
    <vt:vector size="44" baseType="lpstr">
      <vt:lpstr>Helvetica Neue</vt:lpstr>
      <vt:lpstr>Lucida Grande</vt:lpstr>
      <vt:lpstr>Aptos</vt:lpstr>
      <vt:lpstr>Aptos Display</vt:lpstr>
      <vt:lpstr>Aptos ExtraBold</vt:lpstr>
      <vt:lpstr>Arial</vt:lpstr>
      <vt:lpstr>Calibri</vt:lpstr>
      <vt:lpstr>Calibri Light</vt:lpstr>
      <vt:lpstr>Euphemia</vt:lpstr>
      <vt:lpstr>Lato</vt:lpstr>
      <vt:lpstr>Plantagenet Cherokee</vt:lpstr>
      <vt:lpstr>Times New Roman</vt:lpstr>
      <vt:lpstr>Wingdings</vt:lpstr>
      <vt:lpstr>1_Literatura académica 16 × 9</vt:lpstr>
      <vt:lpstr>Presentaciones_2016_V01</vt:lpstr>
      <vt:lpstr>5_Tema de Office</vt:lpstr>
      <vt:lpstr>Diseño personalizado</vt:lpstr>
      <vt:lpstr>Tema de Office</vt:lpstr>
      <vt:lpstr>1_Tema de Office</vt:lpstr>
      <vt:lpstr>Esri_Corporate_Template-Dark</vt:lpstr>
      <vt:lpstr>6_Presentaciones_2016_V01</vt:lpstr>
      <vt:lpstr>2_Tema de Office</vt:lpstr>
      <vt:lpstr>3_Tema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Crespo Diaz Alejo, Honorio Enrique</dc:creator>
  <cp:lastModifiedBy>Carmen De Pablos Heredero</cp:lastModifiedBy>
  <cp:revision>9</cp:revision>
  <dcterms:created xsi:type="dcterms:W3CDTF">2025-03-18T20:45:42Z</dcterms:created>
  <dcterms:modified xsi:type="dcterms:W3CDTF">2025-03-27T01:04:25Z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0x010100505B23D3514027478E35B820CACD5D16</vt:lpwstr>
  </property>
</Properties>
</file>